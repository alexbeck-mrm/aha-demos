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image" Target="../media/image-1-1.png"/><Relationship Id="rId8" Type="http://schemas.openxmlformats.org/officeDocument/2006/relationships/image" Target="../media/image-1-2.png"/><Relationship Id="rId9" Type="http://schemas.openxmlformats.org/officeDocument/2006/relationships/image" Target="../media/image-1-3.png"/><Relationship Id="rId10" Type="http://schemas.openxmlformats.org/officeDocument/2006/relationships/image" Target="../media/image-1-4.png"/><Relationship Id="rId11" Type="http://schemas.openxmlformats.org/officeDocument/2006/relationships/image" Target="../media/image-1-5.png"/><Relationship Id="rId12" Type="http://schemas.openxmlformats.org/officeDocument/2006/relationships/image" Target="../media/image-1-6.png"/><Relationship Id="rId13" Type="http://schemas.openxmlformats.org/officeDocument/2006/relationships/image" Target="../media/image-1-7.png"/><Relationship Id="rId14" Type="http://schemas.openxmlformats.org/officeDocument/2006/relationships/image" Target="../media/image-1-8.png"/><Relationship Id="rId15" Type="http://schemas.openxmlformats.org/officeDocument/2006/relationships/image" Target="../media/image-1-9.png"/><Relationship Id="rId16" Type="http://schemas.openxmlformats.org/officeDocument/2006/relationships/image" Target="../media/image-1-10.png"/><Relationship Id="rId17" Type="http://schemas.openxmlformats.org/officeDocument/2006/relationships/image" Target="../media/image-1-11.png"/><Relationship Id="rId18" Type="http://schemas.openxmlformats.org/officeDocument/2006/relationships/image" Target="../media/image-1-12.png"/><Relationship Id="rId19" Type="http://schemas.openxmlformats.org/officeDocument/2006/relationships/image" Target="../media/image-1-13.png"/><Relationship Id="rId20" Type="http://schemas.openxmlformats.org/officeDocument/2006/relationships/image" Target="../media/image-1-14.png"/><Relationship Id="rId21" Type="http://schemas.openxmlformats.org/officeDocument/2006/relationships/image" Target="../media/image-1-15.png"/><Relationship Id="rId22" Type="http://schemas.openxmlformats.org/officeDocument/2006/relationships/image" Target="../media/image-1-16.png"/><Relationship Id="rId23" Type="http://schemas.openxmlformats.org/officeDocument/2006/relationships/image" Target="../media/image-1-17.png"/><Relationship Id="rId24" Type="http://schemas.openxmlformats.org/officeDocument/2006/relationships/image" Target="../media/image-1-18.png"/><Relationship Id="rId25" Type="http://schemas.openxmlformats.org/officeDocument/2006/relationships/image" Target="../media/image-1-19.png"/><Relationship Id="rId26" Type="http://schemas.openxmlformats.org/officeDocument/2006/relationships/image" Target="../media/image-1-20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image" Target="../media/image-2-1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4.png"/><Relationship Id="rId11" Type="http://schemas.openxmlformats.org/officeDocument/2006/relationships/image" Target="../media/image-2-5.png"/><Relationship Id="rId12" Type="http://schemas.openxmlformats.org/officeDocument/2006/relationships/image" Target="../media/image-2-6.png"/><Relationship Id="rId13" Type="http://schemas.openxmlformats.org/officeDocument/2006/relationships/image" Target="../media/image-2-7.png"/><Relationship Id="rId14" Type="http://schemas.openxmlformats.org/officeDocument/2006/relationships/image" Target="../media/image-2-8.png"/><Relationship Id="rId15" Type="http://schemas.openxmlformats.org/officeDocument/2006/relationships/image" Target="../media/image-2-9.png"/><Relationship Id="rId16" Type="http://schemas.openxmlformats.org/officeDocument/2006/relationships/image" Target="../media/image-2-10.png"/><Relationship Id="rId17" Type="http://schemas.openxmlformats.org/officeDocument/2006/relationships/image" Target="../media/image-2-11.png"/><Relationship Id="rId18" Type="http://schemas.openxmlformats.org/officeDocument/2006/relationships/image" Target="../media/image-2-12.png"/><Relationship Id="rId19" Type="http://schemas.openxmlformats.org/officeDocument/2006/relationships/image" Target="../media/image-2-13.png"/><Relationship Id="rId20" Type="http://schemas.openxmlformats.org/officeDocument/2006/relationships/image" Target="../media/image-2-14.png"/><Relationship Id="rId21" Type="http://schemas.openxmlformats.org/officeDocument/2006/relationships/image" Target="../media/image-2-15.png"/><Relationship Id="rId22" Type="http://schemas.openxmlformats.org/officeDocument/2006/relationships/image" Target="../media/image-2-16.png"/><Relationship Id="rId23" Type="http://schemas.openxmlformats.org/officeDocument/2006/relationships/image" Target="../media/image-2-17.png"/><Relationship Id="rId24" Type="http://schemas.openxmlformats.org/officeDocument/2006/relationships/image" Target="../media/image-2-18.png"/><Relationship Id="rId25" Type="http://schemas.openxmlformats.org/officeDocument/2006/relationships/image" Target="../media/image-2-19.png"/><Relationship Id="rId26" Type="http://schemas.openxmlformats.org/officeDocument/2006/relationships/image" Target="../media/image-2-20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image" Target="../media/image-3-1.png"/><Relationship Id="rId8" Type="http://schemas.openxmlformats.org/officeDocument/2006/relationships/image" Target="../media/image-3-2.png"/><Relationship Id="rId9" Type="http://schemas.openxmlformats.org/officeDocument/2006/relationships/image" Target="../media/image-3-3.png"/><Relationship Id="rId10" Type="http://schemas.openxmlformats.org/officeDocument/2006/relationships/image" Target="../media/image-3-4.png"/><Relationship Id="rId11" Type="http://schemas.openxmlformats.org/officeDocument/2006/relationships/image" Target="../media/image-3-5.png"/><Relationship Id="rId12" Type="http://schemas.openxmlformats.org/officeDocument/2006/relationships/image" Target="../media/image-3-6.png"/><Relationship Id="rId13" Type="http://schemas.openxmlformats.org/officeDocument/2006/relationships/image" Target="../media/image-3-7.png"/><Relationship Id="rId14" Type="http://schemas.openxmlformats.org/officeDocument/2006/relationships/image" Target="../media/image-3-8.png"/><Relationship Id="rId15" Type="http://schemas.openxmlformats.org/officeDocument/2006/relationships/image" Target="../media/image-3-9.png"/><Relationship Id="rId16" Type="http://schemas.openxmlformats.org/officeDocument/2006/relationships/image" Target="../media/image-3-10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image" Target="../media/image-4-1.png"/><Relationship Id="rId8" Type="http://schemas.openxmlformats.org/officeDocument/2006/relationships/image" Target="../media/image-4-2.png"/><Relationship Id="rId9" Type="http://schemas.openxmlformats.org/officeDocument/2006/relationships/image" Target="../media/image-4-3.png"/><Relationship Id="rId10" Type="http://schemas.openxmlformats.org/officeDocument/2006/relationships/image" Target="../media/image-4-4.png"/><Relationship Id="rId11" Type="http://schemas.openxmlformats.org/officeDocument/2006/relationships/image" Target="../media/image-4-5.png"/><Relationship Id="rId12" Type="http://schemas.openxmlformats.org/officeDocument/2006/relationships/image" Target="../media/image-4-6.png"/><Relationship Id="rId13" Type="http://schemas.openxmlformats.org/officeDocument/2006/relationships/image" Target="../media/image-4-7.png"/><Relationship Id="rId14" Type="http://schemas.openxmlformats.org/officeDocument/2006/relationships/image" Target="../media/image-4-8.png"/><Relationship Id="rId15" Type="http://schemas.openxmlformats.org/officeDocument/2006/relationships/image" Target="../media/image-4-9.png"/><Relationship Id="rId16" Type="http://schemas.openxmlformats.org/officeDocument/2006/relationships/image" Target="../media/image-4-10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image" Target="../media/image-5-1.png"/><Relationship Id="rId8" Type="http://schemas.openxmlformats.org/officeDocument/2006/relationships/image" Target="../media/image-5-2.png"/><Relationship Id="rId9" Type="http://schemas.openxmlformats.org/officeDocument/2006/relationships/image" Target="../media/image-5-3.png"/><Relationship Id="rId10" Type="http://schemas.openxmlformats.org/officeDocument/2006/relationships/image" Target="../media/image-5-4.png"/><Relationship Id="rId11" Type="http://schemas.openxmlformats.org/officeDocument/2006/relationships/image" Target="../media/image-5-5.png"/><Relationship Id="rId12" Type="http://schemas.openxmlformats.org/officeDocument/2006/relationships/image" Target="../media/image-5-6.png"/><Relationship Id="rId13" Type="http://schemas.openxmlformats.org/officeDocument/2006/relationships/image" Target="../media/image-5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image" Target="../media/image-6-1.png"/><Relationship Id="rId8" Type="http://schemas.openxmlformats.org/officeDocument/2006/relationships/image" Target="../media/image-6-2.png"/><Relationship Id="rId9" Type="http://schemas.openxmlformats.org/officeDocument/2006/relationships/image" Target="../media/image-6-3.png"/><Relationship Id="rId10" Type="http://schemas.openxmlformats.org/officeDocument/2006/relationships/image" Target="../media/image-6-4.png"/><Relationship Id="rId11" Type="http://schemas.openxmlformats.org/officeDocument/2006/relationships/image" Target="../media/image-6-5.png"/><Relationship Id="rId12" Type="http://schemas.openxmlformats.org/officeDocument/2006/relationships/image" Target="../media/image-6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comparator brand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with 20 brands. Logos are normalized first, then placed on a matrix that asks how useful the brand feels as a guide and how human the experience feels.</a:t>
            </a:r>
            <a:endParaRPr lang="en-US" sz="1000" dirty="0"/>
          </a:p>
        </p:txBody>
      </p:sp>
      <p:sp>
        <p:nvSpPr>
          <p:cNvPr id="4" name="Shape 2">
            <a:hlinkClick r:id="rId1" tooltip="Go to Logos" action="ppaction://hlinksldjump"/>
          </p:cNvPr>
          <p:cNvSpPr/>
          <p:nvPr/>
        </p:nvSpPr>
        <p:spPr>
          <a:xfrm>
            <a:off x="6492240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CF222B"/>
          </a:solidFill>
          <a:ln w="12700">
            <a:solidFill>
              <a:srgbClr val="CF2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</a:t>
            </a:r>
            <a:endParaRPr lang="en-US" sz="1050" dirty="0"/>
          </a:p>
        </p:txBody>
      </p:sp>
      <p:sp>
        <p:nvSpPr>
          <p:cNvPr id="6" name="Shape 4">
            <a:hlinkClick r:id="rId2" tooltip="Go to All" action="ppaction://hlinksldjump"/>
          </p:cNvPr>
          <p:cNvSpPr/>
          <p:nvPr/>
        </p:nvSpPr>
        <p:spPr>
          <a:xfrm>
            <a:off x="7260336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50" dirty="0"/>
          </a:p>
        </p:txBody>
      </p:sp>
      <p:sp>
        <p:nvSpPr>
          <p:cNvPr id="8" name="Shape 6">
            <a:hlinkClick r:id="rId3" tooltip="Go to US" action="ppaction://hlinksldjump"/>
          </p:cNvPr>
          <p:cNvSpPr/>
          <p:nvPr/>
        </p:nvSpPr>
        <p:spPr>
          <a:xfrm>
            <a:off x="8028432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1050" dirty="0"/>
          </a:p>
        </p:txBody>
      </p:sp>
      <p:sp>
        <p:nvSpPr>
          <p:cNvPr id="10" name="Shape 8">
            <a:hlinkClick r:id="rId4" tooltip="Go to Global" action="ppaction://hlinksldjump"/>
          </p:cNvPr>
          <p:cNvSpPr/>
          <p:nvPr/>
        </p:nvSpPr>
        <p:spPr>
          <a:xfrm>
            <a:off x="8796528" y="384048"/>
            <a:ext cx="841248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3931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</a:t>
            </a:r>
            <a:endParaRPr lang="en-US" sz="1050" dirty="0"/>
          </a:p>
        </p:txBody>
      </p:sp>
      <p:sp>
        <p:nvSpPr>
          <p:cNvPr id="12" name="Shape 10">
            <a:hlinkClick r:id="rId5" tooltip="Go to Human side" action="ppaction://hlinksldjump"/>
          </p:cNvPr>
          <p:cNvSpPr/>
          <p:nvPr/>
        </p:nvSpPr>
        <p:spPr>
          <a:xfrm>
            <a:off x="9710928" y="384048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393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side</a:t>
            </a:r>
            <a:endParaRPr lang="en-US" sz="1050" dirty="0"/>
          </a:p>
        </p:txBody>
      </p:sp>
      <p:sp>
        <p:nvSpPr>
          <p:cNvPr id="14" name="Shape 12">
            <a:hlinkClick r:id="rId6" tooltip="Go to Institutional" action="ppaction://hlinksldjump"/>
          </p:cNvPr>
          <p:cNvSpPr/>
          <p:nvPr/>
        </p:nvSpPr>
        <p:spPr>
          <a:xfrm>
            <a:off x="10698480" y="384048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93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1225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normalization 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mark sits on the same card and uses the same container. The differences you still see are intentional brand-shape differences, not random source-file scale drift.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set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199339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21" name="Image 0" descr="/Users/alexanderbeck/Projects-code/AHA Research/reference/evidence/logos/aha-space-competitors-global-2026-04/final/american_cancer_socie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8547" y="2066544"/>
            <a:ext cx="994202" cy="42062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251460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American Cancer Society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3163824" y="199339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24" name="Image 1" descr="/Users/alexanderbeck/Projects-code/AHA Research/reference/evidence/logos/aha-space-competitors-global-2026-04/final/american_red_cros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4003" y="2066544"/>
            <a:ext cx="994202" cy="42062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236976" y="251460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American Red Cross</a:t>
            </a:r>
            <a:endParaRPr lang="en-US" sz="670" dirty="0"/>
          </a:p>
        </p:txBody>
      </p:sp>
      <p:sp>
        <p:nvSpPr>
          <p:cNvPr id="26" name="Shape 22"/>
          <p:cNvSpPr/>
          <p:nvPr/>
        </p:nvSpPr>
        <p:spPr>
          <a:xfrm>
            <a:off x="658368" y="281635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27" name="Image 2" descr="/Users/alexanderbeck/Projects-code/AHA Research/reference/evidence/logos/aha-space-competitors-global-2026-04/final/st_ju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8547" y="2889504"/>
            <a:ext cx="994202" cy="42062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31520" y="333756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St. Jude Children's Research Hospital</a:t>
            </a:r>
            <a:endParaRPr lang="en-US" sz="670" dirty="0"/>
          </a:p>
        </p:txBody>
      </p:sp>
      <p:sp>
        <p:nvSpPr>
          <p:cNvPr id="29" name="Shape 24"/>
          <p:cNvSpPr/>
          <p:nvPr/>
        </p:nvSpPr>
        <p:spPr>
          <a:xfrm>
            <a:off x="3163824" y="281635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0" name="Image 3" descr="/Users/alexanderbeck/Projects-code/AHA Research/reference/evidence/logos/aha-space-competitors-global-2026-04/final/mayo_clini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4003" y="2889504"/>
            <a:ext cx="994202" cy="4206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236976" y="333756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 Clinic</a:t>
            </a:r>
            <a:endParaRPr lang="en-US" sz="670" dirty="0"/>
          </a:p>
        </p:txBody>
      </p:sp>
      <p:sp>
        <p:nvSpPr>
          <p:cNvPr id="32" name="Shape 26"/>
          <p:cNvSpPr/>
          <p:nvPr/>
        </p:nvSpPr>
        <p:spPr>
          <a:xfrm>
            <a:off x="658368" y="363931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3" name="Image 4" descr="/Users/alexanderbeck/Projects-code/AHA Research/reference/evidence/logos/aha-space-competitors-global-2026-04/final/cleveland_clini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8547" y="3712464"/>
            <a:ext cx="994202" cy="4206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1520" y="416052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Cleveland Clinic</a:t>
            </a:r>
            <a:endParaRPr lang="en-US" sz="670" dirty="0"/>
          </a:p>
        </p:txBody>
      </p:sp>
      <p:sp>
        <p:nvSpPr>
          <p:cNvPr id="35" name="Shape 28"/>
          <p:cNvSpPr/>
          <p:nvPr/>
        </p:nvSpPr>
        <p:spPr>
          <a:xfrm>
            <a:off x="3163824" y="363931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6" name="Image 5" descr="/Users/alexanderbeck/Projects-code/AHA Research/reference/evidence/logos/aha-space-competitors-global-2026-04/final/alzheimers_associati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4003" y="3712464"/>
            <a:ext cx="994202" cy="4206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236976" y="416052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Alzheimer's Association</a:t>
            </a:r>
            <a:endParaRPr lang="en-US" sz="670" dirty="0"/>
          </a:p>
        </p:txBody>
      </p:sp>
      <p:sp>
        <p:nvSpPr>
          <p:cNvPr id="38" name="Shape 30"/>
          <p:cNvSpPr/>
          <p:nvPr/>
        </p:nvSpPr>
        <p:spPr>
          <a:xfrm>
            <a:off x="658368" y="446227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9" name="Image 6" descr="/Users/alexanderbeck/Projects-code/AHA Research/reference/evidence/logos/aha-space-competitors-global-2026-04/final/breakthrough_t1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8547" y="4535424"/>
            <a:ext cx="994202" cy="4206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31520" y="498348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Breakthrough T1D</a:t>
            </a:r>
            <a:endParaRPr lang="en-US" sz="670" dirty="0"/>
          </a:p>
        </p:txBody>
      </p:sp>
      <p:sp>
        <p:nvSpPr>
          <p:cNvPr id="41" name="Shape 32"/>
          <p:cNvSpPr/>
          <p:nvPr/>
        </p:nvSpPr>
        <p:spPr>
          <a:xfrm>
            <a:off x="3163824" y="446227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2" name="Image 7" descr="/Users/alexanderbeck/Projects-code/AHA Research/reference/evidence/logos/aha-space-competitors-global-2026-04/final/american_diabetes_associati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4003" y="4535424"/>
            <a:ext cx="994202" cy="42062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236976" y="498348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American Diabetes Association</a:t>
            </a:r>
            <a:endParaRPr lang="en-US" sz="670" dirty="0"/>
          </a:p>
        </p:txBody>
      </p:sp>
      <p:sp>
        <p:nvSpPr>
          <p:cNvPr id="44" name="Shape 34"/>
          <p:cNvSpPr/>
          <p:nvPr/>
        </p:nvSpPr>
        <p:spPr>
          <a:xfrm>
            <a:off x="658368" y="528523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5" name="Image 8" descr="/Users/alexanderbeck/Projects-code/AHA Research/reference/evidence/logos/aha-space-competitors-global-2026-04/final/american_lung_associati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8547" y="5358384"/>
            <a:ext cx="994202" cy="42062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31520" y="580644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American Lung Association</a:t>
            </a:r>
            <a:endParaRPr lang="en-US" sz="670" dirty="0"/>
          </a:p>
        </p:txBody>
      </p:sp>
      <p:sp>
        <p:nvSpPr>
          <p:cNvPr id="47" name="Shape 36"/>
          <p:cNvSpPr/>
          <p:nvPr/>
        </p:nvSpPr>
        <p:spPr>
          <a:xfrm>
            <a:off x="3163824" y="528523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8" name="Image 9" descr="/Users/alexanderbeck/Projects-code/AHA Research/reference/evidence/logos/aha-space-competitors-global-2026-04/final/susan_g_kome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64003" y="5358384"/>
            <a:ext cx="994202" cy="42062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3236976" y="580644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Susan G. Komen</a:t>
            </a:r>
            <a:endParaRPr lang="en-US" sz="670" dirty="0"/>
          </a:p>
        </p:txBody>
      </p:sp>
      <p:sp>
        <p:nvSpPr>
          <p:cNvPr id="50" name="Shape 38"/>
          <p:cNvSpPr/>
          <p:nvPr/>
        </p:nvSpPr>
        <p:spPr>
          <a:xfrm>
            <a:off x="6309360" y="199339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1" name="Image 10" descr="/Users/alexanderbeck/Projects-code/AHA Research/reference/evidence/logos/aha-space-competitors-global-2026-04/final/british_heart_foundatio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09539" y="2066544"/>
            <a:ext cx="994202" cy="420624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382512" y="251460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British Heart Foundation</a:t>
            </a:r>
            <a:endParaRPr lang="en-US" sz="670" dirty="0"/>
          </a:p>
        </p:txBody>
      </p:sp>
      <p:sp>
        <p:nvSpPr>
          <p:cNvPr id="53" name="Shape 40"/>
          <p:cNvSpPr/>
          <p:nvPr/>
        </p:nvSpPr>
        <p:spPr>
          <a:xfrm>
            <a:off x="8814816" y="199339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4" name="Image 11" descr="/Users/alexanderbeck/Projects-code/AHA Research/reference/evidence/logos/aha-space-competitors-global-2026-04/final/heart_and_stroke_canada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4995" y="2066544"/>
            <a:ext cx="994202" cy="42062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8887968" y="251460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and Stroke Foundation of Canada</a:t>
            </a:r>
            <a:endParaRPr lang="en-US" sz="670" dirty="0"/>
          </a:p>
        </p:txBody>
      </p:sp>
      <p:sp>
        <p:nvSpPr>
          <p:cNvPr id="56" name="Shape 42"/>
          <p:cNvSpPr/>
          <p:nvPr/>
        </p:nvSpPr>
        <p:spPr>
          <a:xfrm>
            <a:off x="6309360" y="281635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7" name="Image 12" descr="/Users/alexanderbeck/Projects-code/AHA Research/reference/evidence/logos/aha-space-competitors-global-2026-04/final/heart_foundation_australia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09539" y="2889504"/>
            <a:ext cx="994202" cy="420624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6382512" y="333756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Heart Foundation of Australia</a:t>
            </a:r>
            <a:endParaRPr lang="en-US" sz="670" dirty="0"/>
          </a:p>
        </p:txBody>
      </p:sp>
      <p:sp>
        <p:nvSpPr>
          <p:cNvPr id="59" name="Shape 44"/>
          <p:cNvSpPr/>
          <p:nvPr/>
        </p:nvSpPr>
        <p:spPr>
          <a:xfrm>
            <a:off x="8814816" y="281635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0" name="Image 13" descr="/Users/alexanderbeck/Projects-code/AHA Research/reference/evidence/logos/aha-space-competitors-global-2026-04/final/heart_foundation_nz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14995" y="2889504"/>
            <a:ext cx="994202" cy="420624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8887968" y="333756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Foundation NZ</a:t>
            </a:r>
            <a:endParaRPr lang="en-US" sz="670" dirty="0"/>
          </a:p>
        </p:txBody>
      </p:sp>
      <p:sp>
        <p:nvSpPr>
          <p:cNvPr id="62" name="Shape 46"/>
          <p:cNvSpPr/>
          <p:nvPr/>
        </p:nvSpPr>
        <p:spPr>
          <a:xfrm>
            <a:off x="6309360" y="363931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3" name="Image 14" descr="/Users/alexanderbeck/Projects-code/AHA Research/reference/evidence/logos/aha-space-competitors-global-2026-04/final/irish_heart_foundatio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09539" y="3712464"/>
            <a:ext cx="994202" cy="420624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6382512" y="416052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Heart Foundation</a:t>
            </a:r>
            <a:endParaRPr lang="en-US" sz="670" dirty="0"/>
          </a:p>
        </p:txBody>
      </p:sp>
      <p:sp>
        <p:nvSpPr>
          <p:cNvPr id="65" name="Shape 48"/>
          <p:cNvSpPr/>
          <p:nvPr/>
        </p:nvSpPr>
        <p:spPr>
          <a:xfrm>
            <a:off x="8814816" y="363931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6" name="Image 15" descr="/Users/alexanderbeck/Projects-code/AHA Research/reference/evidence/logos/aha-space-competitors-global-2026-04/final/deutsche_herzstiftung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14995" y="3712464"/>
            <a:ext cx="994202" cy="420624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8887968" y="416052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Deutsche Herzstiftung</a:t>
            </a:r>
            <a:endParaRPr lang="en-US" sz="670" dirty="0"/>
          </a:p>
        </p:txBody>
      </p:sp>
      <p:sp>
        <p:nvSpPr>
          <p:cNvPr id="68" name="Shape 50"/>
          <p:cNvSpPr/>
          <p:nvPr/>
        </p:nvSpPr>
        <p:spPr>
          <a:xfrm>
            <a:off x="6309360" y="446227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9" name="Image 16" descr="/Users/alexanderbeck/Projects-code/AHA Research/reference/evidence/logos/aha-space-competitors-global-2026-04/final/heart_research_uk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09539" y="4535424"/>
            <a:ext cx="994202" cy="420624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6382512" y="498348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Research UK</a:t>
            </a:r>
            <a:endParaRPr lang="en-US" sz="670" dirty="0"/>
          </a:p>
        </p:txBody>
      </p:sp>
      <p:sp>
        <p:nvSpPr>
          <p:cNvPr id="71" name="Shape 52"/>
          <p:cNvSpPr/>
          <p:nvPr/>
        </p:nvSpPr>
        <p:spPr>
          <a:xfrm>
            <a:off x="8814816" y="446227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72" name="Image 17" descr="/Users/alexanderbeck/Projects-code/AHA Research/reference/evidence/logos/aha-space-competitors-global-2026-04/final/heart_research_australia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14995" y="4535424"/>
            <a:ext cx="994202" cy="420624"/>
          </a:xfrm>
          <a:prstGeom prst="rect">
            <a:avLst/>
          </a:prstGeom>
        </p:spPr>
      </p:pic>
      <p:sp>
        <p:nvSpPr>
          <p:cNvPr id="73" name="Text 53"/>
          <p:cNvSpPr/>
          <p:nvPr/>
        </p:nvSpPr>
        <p:spPr>
          <a:xfrm>
            <a:off x="8887968" y="498348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Research Australia</a:t>
            </a:r>
            <a:endParaRPr lang="en-US" sz="670" dirty="0"/>
          </a:p>
        </p:txBody>
      </p:sp>
      <p:sp>
        <p:nvSpPr>
          <p:cNvPr id="74" name="Shape 54"/>
          <p:cNvSpPr/>
          <p:nvPr/>
        </p:nvSpPr>
        <p:spPr>
          <a:xfrm>
            <a:off x="6309360" y="528523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75" name="Image 18" descr="/Users/alexanderbeck/Projects-code/AHA Research/reference/evidence/logos/aha-space-competitors-global-2026-04/final/singapore_heart_foundation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09539" y="5358384"/>
            <a:ext cx="994202" cy="420624"/>
          </a:xfrm>
          <a:prstGeom prst="rect">
            <a:avLst/>
          </a:prstGeom>
        </p:spPr>
      </p:pic>
      <p:sp>
        <p:nvSpPr>
          <p:cNvPr id="76" name="Text 55"/>
          <p:cNvSpPr/>
          <p:nvPr/>
        </p:nvSpPr>
        <p:spPr>
          <a:xfrm>
            <a:off x="6382512" y="580644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Singapore Heart Foundation</a:t>
            </a:r>
            <a:endParaRPr lang="en-US" sz="670" dirty="0"/>
          </a:p>
        </p:txBody>
      </p:sp>
      <p:sp>
        <p:nvSpPr>
          <p:cNvPr id="77" name="Shape 56"/>
          <p:cNvSpPr/>
          <p:nvPr/>
        </p:nvSpPr>
        <p:spPr>
          <a:xfrm>
            <a:off x="8814816" y="5285232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78" name="Image 19" descr="/Users/alexanderbeck/Projects-code/AHA Research/reference/evidence/logos/aha-space-competitors-global-2026-04/final/heart_and_stroke_south_africa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14995" y="5358384"/>
            <a:ext cx="994202" cy="420624"/>
          </a:xfrm>
          <a:prstGeom prst="rect">
            <a:avLst/>
          </a:prstGeom>
        </p:spPr>
      </p:pic>
      <p:sp>
        <p:nvSpPr>
          <p:cNvPr id="79" name="Text 57"/>
          <p:cNvSpPr/>
          <p:nvPr/>
        </p:nvSpPr>
        <p:spPr>
          <a:xfrm>
            <a:off x="8887968" y="5806440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and Stroke Foundation South Africa</a:t>
            </a:r>
            <a:endParaRPr lang="en-US" sz="6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comparator brand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with 20 brands. Logos are normalized first, then placed on a matrix that asks how useful the brand feels as a guide and how human the experience feels.</a:t>
            </a:r>
            <a:endParaRPr lang="en-US" sz="1000" dirty="0"/>
          </a:p>
        </p:txBody>
      </p:sp>
      <p:sp>
        <p:nvSpPr>
          <p:cNvPr id="4" name="Shape 2">
            <a:hlinkClick r:id="rId1" tooltip="Go to Logos" action="ppaction://hlinksldjump"/>
          </p:cNvPr>
          <p:cNvSpPr/>
          <p:nvPr/>
        </p:nvSpPr>
        <p:spPr>
          <a:xfrm>
            <a:off x="6492240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</a:t>
            </a:r>
            <a:endParaRPr lang="en-US" sz="1050" dirty="0"/>
          </a:p>
        </p:txBody>
      </p:sp>
      <p:sp>
        <p:nvSpPr>
          <p:cNvPr id="6" name="Shape 4">
            <a:hlinkClick r:id="rId2" tooltip="Go to All" action="ppaction://hlinksldjump"/>
          </p:cNvPr>
          <p:cNvSpPr/>
          <p:nvPr/>
        </p:nvSpPr>
        <p:spPr>
          <a:xfrm>
            <a:off x="7260336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CF222B"/>
          </a:solidFill>
          <a:ln w="12700">
            <a:solidFill>
              <a:srgbClr val="CF2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50" dirty="0"/>
          </a:p>
        </p:txBody>
      </p:sp>
      <p:sp>
        <p:nvSpPr>
          <p:cNvPr id="8" name="Shape 6">
            <a:hlinkClick r:id="rId3" tooltip="Go to US" action="ppaction://hlinksldjump"/>
          </p:cNvPr>
          <p:cNvSpPr/>
          <p:nvPr/>
        </p:nvSpPr>
        <p:spPr>
          <a:xfrm>
            <a:off x="8028432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1050" dirty="0"/>
          </a:p>
        </p:txBody>
      </p:sp>
      <p:sp>
        <p:nvSpPr>
          <p:cNvPr id="10" name="Shape 8">
            <a:hlinkClick r:id="rId4" tooltip="Go to Global" action="ppaction://hlinksldjump"/>
          </p:cNvPr>
          <p:cNvSpPr/>
          <p:nvPr/>
        </p:nvSpPr>
        <p:spPr>
          <a:xfrm>
            <a:off x="8796528" y="384048"/>
            <a:ext cx="841248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3931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</a:t>
            </a:r>
            <a:endParaRPr lang="en-US" sz="1050" dirty="0"/>
          </a:p>
        </p:txBody>
      </p:sp>
      <p:sp>
        <p:nvSpPr>
          <p:cNvPr id="12" name="Shape 10">
            <a:hlinkClick r:id="rId5" tooltip="Go to Human side" action="ppaction://hlinksldjump"/>
          </p:cNvPr>
          <p:cNvSpPr/>
          <p:nvPr/>
        </p:nvSpPr>
        <p:spPr>
          <a:xfrm>
            <a:off x="9710928" y="384048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393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side</a:t>
            </a:r>
            <a:endParaRPr lang="en-US" sz="1050" dirty="0"/>
          </a:p>
        </p:txBody>
      </p:sp>
      <p:sp>
        <p:nvSpPr>
          <p:cNvPr id="14" name="Shape 12">
            <a:hlinkClick r:id="rId6" tooltip="Go to Institutional" action="ppaction://hlinksldjump"/>
          </p:cNvPr>
          <p:cNvSpPr/>
          <p:nvPr/>
        </p:nvSpPr>
        <p:spPr>
          <a:xfrm>
            <a:off x="10698480" y="384048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93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1508760"/>
            <a:ext cx="9784080" cy="4553712"/>
          </a:xfrm>
          <a:prstGeom prst="roundRect">
            <a:avLst>
              <a:gd name="adj" fmla="val 803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1508760"/>
            <a:ext cx="4892040" cy="2276856"/>
          </a:xfrm>
          <a:prstGeom prst="rect">
            <a:avLst/>
          </a:prstGeom>
          <a:solidFill>
            <a:srgbClr val="EEF5FF">
              <a:alpha val="55000"/>
            </a:srgbClr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1032" y="1508760"/>
            <a:ext cx="4892040" cy="2276856"/>
          </a:xfrm>
          <a:prstGeom prst="rect">
            <a:avLst/>
          </a:prstGeom>
          <a:solidFill>
            <a:srgbClr val="ECFBF2">
              <a:alpha val="55000"/>
            </a:srgbClr>
          </a:solidFill>
          <a:ln w="12700">
            <a:solidFill>
              <a:srgbClr val="ECFB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85616"/>
            <a:ext cx="4892040" cy="2276856"/>
          </a:xfrm>
          <a:prstGeom prst="rect">
            <a:avLst/>
          </a:prstGeom>
          <a:solidFill>
            <a:srgbClr val="FFF8E8">
              <a:alpha val="55000"/>
            </a:srgbClr>
          </a:solidFill>
          <a:ln w="12700">
            <a:solidFill>
              <a:srgbClr val="FFF8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3785616"/>
            <a:ext cx="4892040" cy="2276856"/>
          </a:xfrm>
          <a:prstGeom prst="rect">
            <a:avLst/>
          </a:prstGeom>
          <a:solidFill>
            <a:srgbClr val="FFF1E8">
              <a:alpha val="50000"/>
            </a:srgbClr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501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2647188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705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924044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051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guide utility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5623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guide utility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6199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institutional / system-led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human / inviting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2128" y="1755648"/>
            <a:ext cx="2450592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F2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9110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opportunity: high guide value with a more people-made feel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directional scoring from first-fold brand signals, not audited market research.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8190128" y="3374506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7" name="Image 0" descr="/Users/alexanderbeck/Projects-code/AHA Research/reference/evidence/logos/aha-space-competitors-global-2026-04/final/american_cancer_socie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568" y="3448009"/>
            <a:ext cx="603504" cy="255329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429921" y="3132872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9" name="Image 1" descr="/Users/alexanderbeck/Projects-code/AHA Research/reference/evidence/logos/aha-space-competitors-global-2026-04/final/american_red_cros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361" y="3206376"/>
            <a:ext cx="603504" cy="255329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9104515" y="3847011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1" name="Image 2" descr="/Users/alexanderbeck/Projects-code/AHA Research/reference/evidence/logos/aha-space-competitors-global-2026-04/final/st_ju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5955" y="3920515"/>
            <a:ext cx="603504" cy="255329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773777" y="1563624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3" name="Image 3" descr="/Users/alexanderbeck/Projects-code/AHA Research/reference/evidence/logos/aha-space-competitors-global-2026-04/final/mayo_clini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5217" y="1637128"/>
            <a:ext cx="603504" cy="255329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4391067" y="1587773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5" name="Image 4" descr="/Users/alexanderbeck/Projects-code/AHA Research/reference/evidence/logos/aha-space-competitors-global-2026-04/final/cleveland_clini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2507" y="1661277"/>
            <a:ext cx="603504" cy="255329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136092" y="3440006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7" name="Image 5" descr="/Users/alexanderbeck/Projects-code/AHA Research/reference/evidence/logos/aha-space-competitors-global-2026-04/final/alzheimers_associati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27532" y="3513510"/>
            <a:ext cx="603504" cy="255329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7553131" y="3805380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9" name="Image 6" descr="/Users/alexanderbeck/Projects-code/AHA Research/reference/evidence/logos/aha-space-competitors-global-2026-04/final/breakthrough_t1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4571" y="3878883"/>
            <a:ext cx="603504" cy="255329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530726" y="1876870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1" name="Image 7" descr="/Users/alexanderbeck/Projects-code/AHA Research/reference/evidence/logos/aha-space-competitors-global-2026-04/final/american_diabetes_associati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2166" y="1950373"/>
            <a:ext cx="603504" cy="255329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4325147" y="2323956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3" name="Image 8" descr="/Users/alexanderbeck/Projects-code/AHA Research/reference/evidence/logos/aha-space-competitors-global-2026-04/final/american_lung_associati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6587" y="2397460"/>
            <a:ext cx="603504" cy="255329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8345818" y="4310497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5" name="Image 9" descr="/Users/alexanderbeck/Projects-code/AHA Research/reference/evidence/logos/aha-space-competitors-global-2026-04/final/susan_g_kome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7258" y="4384001"/>
            <a:ext cx="603504" cy="255329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>
            <a:off x="5873620" y="3132360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7" name="Image 10" descr="/Users/alexanderbeck/Projects-code/AHA Research/reference/evidence/logos/aha-space-competitors-global-2026-04/final/british_heart_foundatio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65060" y="3205864"/>
            <a:ext cx="603504" cy="255329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5911125" y="2298483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9" name="Image 11" descr="/Users/alexanderbeck/Projects-code/AHA Research/reference/evidence/logos/aha-space-competitors-global-2026-04/final/heart_and_stroke_canada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02565" y="2371987"/>
            <a:ext cx="603504" cy="255329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7444449" y="2277818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1" name="Image 12" descr="/Users/alexanderbeck/Projects-code/AHA Research/reference/evidence/logos/aha-space-competitors-global-2026-04/final/heart_foundation_australia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35889" y="2351321"/>
            <a:ext cx="603504" cy="255329"/>
          </a:xfrm>
          <a:prstGeom prst="rect">
            <a:avLst/>
          </a:prstGeom>
        </p:spPr>
      </p:pic>
      <p:sp>
        <p:nvSpPr>
          <p:cNvPr id="62" name="Shape 47"/>
          <p:cNvSpPr/>
          <p:nvPr/>
        </p:nvSpPr>
        <p:spPr>
          <a:xfrm>
            <a:off x="7472322" y="2940045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3" name="Image 13" descr="/Users/alexanderbeck/Projects-code/AHA Research/reference/evidence/logos/aha-space-competitors-global-2026-04/final/heart_foundation_nz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63762" y="3013549"/>
            <a:ext cx="603504" cy="255329"/>
          </a:xfrm>
          <a:prstGeom prst="rect">
            <a:avLst/>
          </a:prstGeom>
        </p:spPr>
      </p:pic>
      <p:sp>
        <p:nvSpPr>
          <p:cNvPr id="64" name="Shape 48"/>
          <p:cNvSpPr/>
          <p:nvPr/>
        </p:nvSpPr>
        <p:spPr>
          <a:xfrm>
            <a:off x="6837675" y="3377769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5" name="Image 14" descr="/Users/alexanderbeck/Projects-code/AHA Research/reference/evidence/logos/aha-space-competitors-global-2026-04/final/irish_heart_foundatio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29115" y="3451273"/>
            <a:ext cx="603504" cy="255329"/>
          </a:xfrm>
          <a:prstGeom prst="rect">
            <a:avLst/>
          </a:prstGeom>
        </p:spPr>
      </p:pic>
      <p:sp>
        <p:nvSpPr>
          <p:cNvPr id="66" name="Shape 49"/>
          <p:cNvSpPr/>
          <p:nvPr/>
        </p:nvSpPr>
        <p:spPr>
          <a:xfrm>
            <a:off x="3584983" y="1927277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7" name="Image 15" descr="/Users/alexanderbeck/Projects-code/AHA Research/reference/evidence/logos/aha-space-competitors-global-2026-04/final/deutsche_herzstiftung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76423" y="2000780"/>
            <a:ext cx="603504" cy="255329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6772655" y="4288032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69" name="Image 16" descr="/Users/alexanderbeck/Projects-code/AHA Research/reference/evidence/logos/aha-space-competitors-global-2026-04/final/heart_research_uk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64095" y="4361535"/>
            <a:ext cx="603504" cy="255329"/>
          </a:xfrm>
          <a:prstGeom prst="rect">
            <a:avLst/>
          </a:prstGeom>
        </p:spPr>
      </p:pic>
      <p:sp>
        <p:nvSpPr>
          <p:cNvPr id="70" name="Shape 51"/>
          <p:cNvSpPr/>
          <p:nvPr/>
        </p:nvSpPr>
        <p:spPr>
          <a:xfrm>
            <a:off x="5931788" y="3852146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71" name="Image 17" descr="/Users/alexanderbeck/Projects-code/AHA Research/reference/evidence/logos/aha-space-competitors-global-2026-04/final/heart_research_australia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23228" y="3925650"/>
            <a:ext cx="603504" cy="255329"/>
          </a:xfrm>
          <a:prstGeom prst="rect">
            <a:avLst/>
          </a:prstGeom>
        </p:spPr>
      </p:pic>
      <p:sp>
        <p:nvSpPr>
          <p:cNvPr id="72" name="Shape 52"/>
          <p:cNvSpPr/>
          <p:nvPr/>
        </p:nvSpPr>
        <p:spPr>
          <a:xfrm>
            <a:off x="5200258" y="2775779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73" name="Image 18" descr="/Users/alexanderbeck/Projects-code/AHA Research/reference/evidence/logos/aha-space-competitors-global-2026-04/final/singapore_heart_foundation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91698" y="2849283"/>
            <a:ext cx="603504" cy="255329"/>
          </a:xfrm>
          <a:prstGeom prst="rect">
            <a:avLst/>
          </a:prstGeom>
        </p:spPr>
      </p:pic>
      <p:sp>
        <p:nvSpPr>
          <p:cNvPr id="74" name="Shape 53"/>
          <p:cNvSpPr/>
          <p:nvPr/>
        </p:nvSpPr>
        <p:spPr>
          <a:xfrm>
            <a:off x="6618802" y="2733183"/>
            <a:ext cx="78638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75" name="Image 19" descr="/Users/alexanderbeck/Projects-code/AHA Research/reference/evidence/logos/aha-space-competitors-global-2026-04/final/heart_and_stroke_south_africa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10242" y="2806687"/>
            <a:ext cx="603504" cy="2553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comparator brand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with 20 brands. Logos are normalized first, then placed on a matrix that asks how useful the brand feels as a guide and how human the experience feels.</a:t>
            </a:r>
            <a:endParaRPr lang="en-US" sz="1000" dirty="0"/>
          </a:p>
        </p:txBody>
      </p:sp>
      <p:sp>
        <p:nvSpPr>
          <p:cNvPr id="4" name="Shape 2">
            <a:hlinkClick r:id="rId1" tooltip="Go to Logos" action="ppaction://hlinksldjump"/>
          </p:cNvPr>
          <p:cNvSpPr/>
          <p:nvPr/>
        </p:nvSpPr>
        <p:spPr>
          <a:xfrm>
            <a:off x="6492240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</a:t>
            </a:r>
            <a:endParaRPr lang="en-US" sz="1050" dirty="0"/>
          </a:p>
        </p:txBody>
      </p:sp>
      <p:sp>
        <p:nvSpPr>
          <p:cNvPr id="6" name="Shape 4">
            <a:hlinkClick r:id="rId2" tooltip="Go to All" action="ppaction://hlinksldjump"/>
          </p:cNvPr>
          <p:cNvSpPr/>
          <p:nvPr/>
        </p:nvSpPr>
        <p:spPr>
          <a:xfrm>
            <a:off x="7260336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50" dirty="0"/>
          </a:p>
        </p:txBody>
      </p:sp>
      <p:sp>
        <p:nvSpPr>
          <p:cNvPr id="8" name="Shape 6">
            <a:hlinkClick r:id="rId3" tooltip="Go to US" action="ppaction://hlinksldjump"/>
          </p:cNvPr>
          <p:cNvSpPr/>
          <p:nvPr/>
        </p:nvSpPr>
        <p:spPr>
          <a:xfrm>
            <a:off x="8028432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CF222B"/>
          </a:solidFill>
          <a:ln w="12700">
            <a:solidFill>
              <a:srgbClr val="CF2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1050" dirty="0"/>
          </a:p>
        </p:txBody>
      </p:sp>
      <p:sp>
        <p:nvSpPr>
          <p:cNvPr id="10" name="Shape 8">
            <a:hlinkClick r:id="rId4" tooltip="Go to Global" action="ppaction://hlinksldjump"/>
          </p:cNvPr>
          <p:cNvSpPr/>
          <p:nvPr/>
        </p:nvSpPr>
        <p:spPr>
          <a:xfrm>
            <a:off x="8796528" y="384048"/>
            <a:ext cx="841248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3931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</a:t>
            </a:r>
            <a:endParaRPr lang="en-US" sz="1050" dirty="0"/>
          </a:p>
        </p:txBody>
      </p:sp>
      <p:sp>
        <p:nvSpPr>
          <p:cNvPr id="12" name="Shape 10">
            <a:hlinkClick r:id="rId5" tooltip="Go to Human side" action="ppaction://hlinksldjump"/>
          </p:cNvPr>
          <p:cNvSpPr/>
          <p:nvPr/>
        </p:nvSpPr>
        <p:spPr>
          <a:xfrm>
            <a:off x="9710928" y="384048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393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side</a:t>
            </a:r>
            <a:endParaRPr lang="en-US" sz="1050" dirty="0"/>
          </a:p>
        </p:txBody>
      </p:sp>
      <p:sp>
        <p:nvSpPr>
          <p:cNvPr id="14" name="Shape 12">
            <a:hlinkClick r:id="rId6" tooltip="Go to Institutional" action="ppaction://hlinksldjump"/>
          </p:cNvPr>
          <p:cNvSpPr/>
          <p:nvPr/>
        </p:nvSpPr>
        <p:spPr>
          <a:xfrm>
            <a:off x="10698480" y="384048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93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1508760"/>
            <a:ext cx="9784080" cy="4553712"/>
          </a:xfrm>
          <a:prstGeom prst="roundRect">
            <a:avLst>
              <a:gd name="adj" fmla="val 803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1508760"/>
            <a:ext cx="4892040" cy="2276856"/>
          </a:xfrm>
          <a:prstGeom prst="rect">
            <a:avLst/>
          </a:prstGeom>
          <a:solidFill>
            <a:srgbClr val="EEF5FF">
              <a:alpha val="55000"/>
            </a:srgbClr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1032" y="1508760"/>
            <a:ext cx="4892040" cy="2276856"/>
          </a:xfrm>
          <a:prstGeom prst="rect">
            <a:avLst/>
          </a:prstGeom>
          <a:solidFill>
            <a:srgbClr val="ECFBF2">
              <a:alpha val="55000"/>
            </a:srgbClr>
          </a:solidFill>
          <a:ln w="12700">
            <a:solidFill>
              <a:srgbClr val="ECFB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85616"/>
            <a:ext cx="4892040" cy="2276856"/>
          </a:xfrm>
          <a:prstGeom prst="rect">
            <a:avLst/>
          </a:prstGeom>
          <a:solidFill>
            <a:srgbClr val="FFF8E8">
              <a:alpha val="55000"/>
            </a:srgbClr>
          </a:solidFill>
          <a:ln w="12700">
            <a:solidFill>
              <a:srgbClr val="FFF8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3785616"/>
            <a:ext cx="4892040" cy="2276856"/>
          </a:xfrm>
          <a:prstGeom prst="rect">
            <a:avLst/>
          </a:prstGeom>
          <a:solidFill>
            <a:srgbClr val="FFF1E8">
              <a:alpha val="50000"/>
            </a:srgbClr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501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2647188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705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924044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051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guide utility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5623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guide utility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6199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institutional / system-led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human / inviting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2128" y="1755648"/>
            <a:ext cx="2450592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F2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9110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opportunity: high guide value with a more people-made feel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directional scoring from first-fold brand signals, not audited market research.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7712724" y="3186833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7" name="Image 0" descr="/Users/alexanderbeck/Projects-code/AHA Research/reference/evidence/logos/aha-space-competitors-global-2026-04/final/american_cancer_socie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5826" y="3259985"/>
            <a:ext cx="691619" cy="29260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923979" y="3002701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9" name="Image 1" descr="/Users/alexanderbeck/Projects-code/AHA Research/reference/evidence/logos/aha-space-competitors-global-2026-04/final/american_red_cros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7082" y="3075853"/>
            <a:ext cx="691619" cy="29260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9010904" y="3869741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1" name="Image 2" descr="/Users/alexanderbeck/Projects-code/AHA Research/reference/evidence/logos/aha-space-competitors-global-2026-04/final/st_ju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4007" y="3942893"/>
            <a:ext cx="691619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814320" y="1563624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3" name="Image 3" descr="/Users/alexanderbeck/Projects-code/AHA Research/reference/evidence/logos/aha-space-competitors-global-2026-04/final/mayo_clini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7423" y="1636776"/>
            <a:ext cx="691619" cy="29260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4010152" y="1896466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5" name="Image 4" descr="/Users/alexanderbeck/Projects-code/AHA Research/reference/evidence/logos/aha-space-competitors-global-2026-04/final/cleveland_clini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3255" y="1969618"/>
            <a:ext cx="691619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786144" y="3417584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7" name="Image 5" descr="/Users/alexanderbeck/Projects-code/AHA Research/reference/evidence/logos/aha-space-competitors-global-2026-04/final/alzheimers_associati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247" y="3490736"/>
            <a:ext cx="691619" cy="292608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6830300" y="3641906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9" name="Image 6" descr="/Users/alexanderbeck/Projects-code/AHA Research/reference/evidence/logos/aha-space-competitors-global-2026-04/final/breakthrough_t1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3403" y="3715058"/>
            <a:ext cx="691619" cy="292608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5777525" y="2507306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1" name="Image 7" descr="/Users/alexanderbeck/Projects-code/AHA Research/reference/evidence/logos/aha-space-competitors-global-2026-04/final/american_diabetes_associati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70627" y="2580458"/>
            <a:ext cx="691619" cy="292608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4771136" y="2351837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3" name="Image 8" descr="/Users/alexanderbeck/Projects-code/AHA Research/reference/evidence/logos/aha-space-competitors-global-2026-04/final/american_lung_associati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64239" y="2424989"/>
            <a:ext cx="691619" cy="292608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8032496" y="4173322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5" name="Image 9" descr="/Users/alexanderbeck/Projects-code/AHA Research/reference/evidence/logos/aha-space-competitors-global-2026-04/final/susan_g_kome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5599" y="4246474"/>
            <a:ext cx="69161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comparator brand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with 20 brands. Logos are normalized first, then placed on a matrix that asks how useful the brand feels as a guide and how human the experience feels.</a:t>
            </a:r>
            <a:endParaRPr lang="en-US" sz="1000" dirty="0"/>
          </a:p>
        </p:txBody>
      </p:sp>
      <p:sp>
        <p:nvSpPr>
          <p:cNvPr id="4" name="Shape 2">
            <a:hlinkClick r:id="rId1" tooltip="Go to Logos" action="ppaction://hlinksldjump"/>
          </p:cNvPr>
          <p:cNvSpPr/>
          <p:nvPr/>
        </p:nvSpPr>
        <p:spPr>
          <a:xfrm>
            <a:off x="6492240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</a:t>
            </a:r>
            <a:endParaRPr lang="en-US" sz="1050" dirty="0"/>
          </a:p>
        </p:txBody>
      </p:sp>
      <p:sp>
        <p:nvSpPr>
          <p:cNvPr id="6" name="Shape 4">
            <a:hlinkClick r:id="rId2" tooltip="Go to All" action="ppaction://hlinksldjump"/>
          </p:cNvPr>
          <p:cNvSpPr/>
          <p:nvPr/>
        </p:nvSpPr>
        <p:spPr>
          <a:xfrm>
            <a:off x="7260336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50" dirty="0"/>
          </a:p>
        </p:txBody>
      </p:sp>
      <p:sp>
        <p:nvSpPr>
          <p:cNvPr id="8" name="Shape 6">
            <a:hlinkClick r:id="rId3" tooltip="Go to US" action="ppaction://hlinksldjump"/>
          </p:cNvPr>
          <p:cNvSpPr/>
          <p:nvPr/>
        </p:nvSpPr>
        <p:spPr>
          <a:xfrm>
            <a:off x="8028432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1050" dirty="0"/>
          </a:p>
        </p:txBody>
      </p:sp>
      <p:sp>
        <p:nvSpPr>
          <p:cNvPr id="10" name="Shape 8">
            <a:hlinkClick r:id="rId4" tooltip="Go to Global" action="ppaction://hlinksldjump"/>
          </p:cNvPr>
          <p:cNvSpPr/>
          <p:nvPr/>
        </p:nvSpPr>
        <p:spPr>
          <a:xfrm>
            <a:off x="8796528" y="384048"/>
            <a:ext cx="841248" cy="310896"/>
          </a:xfrm>
          <a:prstGeom prst="roundRect">
            <a:avLst>
              <a:gd name="adj" fmla="val 26471"/>
            </a:avLst>
          </a:prstGeom>
          <a:solidFill>
            <a:srgbClr val="CF222B"/>
          </a:solidFill>
          <a:ln w="12700">
            <a:solidFill>
              <a:srgbClr val="CF2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3931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</a:t>
            </a:r>
            <a:endParaRPr lang="en-US" sz="1050" dirty="0"/>
          </a:p>
        </p:txBody>
      </p:sp>
      <p:sp>
        <p:nvSpPr>
          <p:cNvPr id="12" name="Shape 10">
            <a:hlinkClick r:id="rId5" tooltip="Go to Human side" action="ppaction://hlinksldjump"/>
          </p:cNvPr>
          <p:cNvSpPr/>
          <p:nvPr/>
        </p:nvSpPr>
        <p:spPr>
          <a:xfrm>
            <a:off x="9710928" y="384048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393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side</a:t>
            </a:r>
            <a:endParaRPr lang="en-US" sz="1050" dirty="0"/>
          </a:p>
        </p:txBody>
      </p:sp>
      <p:sp>
        <p:nvSpPr>
          <p:cNvPr id="14" name="Shape 12">
            <a:hlinkClick r:id="rId6" tooltip="Go to Institutional" action="ppaction://hlinksldjump"/>
          </p:cNvPr>
          <p:cNvSpPr/>
          <p:nvPr/>
        </p:nvSpPr>
        <p:spPr>
          <a:xfrm>
            <a:off x="10698480" y="384048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93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1508760"/>
            <a:ext cx="9784080" cy="4553712"/>
          </a:xfrm>
          <a:prstGeom prst="roundRect">
            <a:avLst>
              <a:gd name="adj" fmla="val 803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1508760"/>
            <a:ext cx="4892040" cy="2276856"/>
          </a:xfrm>
          <a:prstGeom prst="rect">
            <a:avLst/>
          </a:prstGeom>
          <a:solidFill>
            <a:srgbClr val="EEF5FF">
              <a:alpha val="55000"/>
            </a:srgbClr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1032" y="1508760"/>
            <a:ext cx="4892040" cy="2276856"/>
          </a:xfrm>
          <a:prstGeom prst="rect">
            <a:avLst/>
          </a:prstGeom>
          <a:solidFill>
            <a:srgbClr val="ECFBF2">
              <a:alpha val="55000"/>
            </a:srgbClr>
          </a:solidFill>
          <a:ln w="12700">
            <a:solidFill>
              <a:srgbClr val="ECFB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85616"/>
            <a:ext cx="4892040" cy="2276856"/>
          </a:xfrm>
          <a:prstGeom prst="rect">
            <a:avLst/>
          </a:prstGeom>
          <a:solidFill>
            <a:srgbClr val="FFF8E8">
              <a:alpha val="55000"/>
            </a:srgbClr>
          </a:solidFill>
          <a:ln w="12700">
            <a:solidFill>
              <a:srgbClr val="FFF8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3785616"/>
            <a:ext cx="4892040" cy="2276856"/>
          </a:xfrm>
          <a:prstGeom prst="rect">
            <a:avLst/>
          </a:prstGeom>
          <a:solidFill>
            <a:srgbClr val="FFF1E8">
              <a:alpha val="50000"/>
            </a:srgbClr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501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2647188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705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924044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051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guide utility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5623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guide utility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6199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institutional / system-led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human / inviting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2128" y="1755648"/>
            <a:ext cx="2450592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F2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9110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opportunity: high guide value with a more people-made feel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directional scoring from first-fold brand signals, not audited market research.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4331224" y="3536762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7" name="Image 0" descr="/Users/alexanderbeck/Projects-code/AHA Research/reference/evidence/logos/aha-space-competitors-global-2026-04/final/british_heart_found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326" y="3609914"/>
            <a:ext cx="691619" cy="29260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33080" y="1759214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9" name="Image 1" descr="/Users/alexanderbeck/Projects-code/AHA Research/reference/evidence/logos/aha-space-competitors-global-2026-04/final/heart_and_stroke_canad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182" y="1832366"/>
            <a:ext cx="691619" cy="29260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5135844" y="3096355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1" name="Image 2" descr="/Users/alexanderbeck/Projects-code/AHA Research/reference/evidence/logos/aha-space-competitors-global-2026-04/final/heart_foundation_australi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8947" y="3169507"/>
            <a:ext cx="691619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7810323" y="264824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3" name="Image 3" descr="/Users/alexanderbeck/Projects-code/AHA Research/reference/evidence/logos/aha-space-competitors-global-2026-04/final/heart_foundation_nz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3426" y="2721400"/>
            <a:ext cx="691619" cy="29260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6881217" y="3128284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5" name="Image 4" descr="/Users/alexanderbeck/Projects-code/AHA Research/reference/evidence/logos/aha-space-competitors-global-2026-04/final/irish_heart_foundatio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4319" y="3201436"/>
            <a:ext cx="691619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4336288" y="2250643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7" name="Image 5" descr="/Users/alexanderbeck/Projects-code/AHA Research/reference/evidence/logos/aha-space-competitors-global-2026-04/final/deutsche_herzstiftu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9391" y="2323795"/>
            <a:ext cx="691619" cy="292608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5943841" y="3509582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9" name="Image 6" descr="/Users/alexanderbeck/Projects-code/AHA Research/reference/evidence/logos/aha-space-competitors-global-2026-04/final/heart_research_u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6944" y="3582734"/>
            <a:ext cx="691619" cy="292608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806984" y="397983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1" name="Image 7" descr="/Users/alexanderbeck/Projects-code/AHA Research/reference/evidence/logos/aha-space-competitors-global-2026-04/final/heart_research_australi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0087" y="4052990"/>
            <a:ext cx="691619" cy="292608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6893308" y="2193080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3" name="Image 8" descr="/Users/alexanderbeck/Projects-code/AHA Research/reference/evidence/logos/aha-space-competitors-global-2026-04/final/singapore_heart_foundati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86410" y="2266232"/>
            <a:ext cx="691619" cy="292608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5971811" y="267842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55" name="Image 9" descr="/Users/alexanderbeck/Projects-code/AHA Research/reference/evidence/logos/aha-space-competitors-global-2026-04/final/heart_and_stroke_south_afric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64914" y="2751580"/>
            <a:ext cx="69161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comparator brand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with 20 brands. Logos are normalized first, then placed on a matrix that asks how useful the brand feels as a guide and how human the experience feels.</a:t>
            </a:r>
            <a:endParaRPr lang="en-US" sz="1000" dirty="0"/>
          </a:p>
        </p:txBody>
      </p:sp>
      <p:sp>
        <p:nvSpPr>
          <p:cNvPr id="4" name="Shape 2">
            <a:hlinkClick r:id="rId1" tooltip="Go to Logos" action="ppaction://hlinksldjump"/>
          </p:cNvPr>
          <p:cNvSpPr/>
          <p:nvPr/>
        </p:nvSpPr>
        <p:spPr>
          <a:xfrm>
            <a:off x="6492240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</a:t>
            </a:r>
            <a:endParaRPr lang="en-US" sz="1050" dirty="0"/>
          </a:p>
        </p:txBody>
      </p:sp>
      <p:sp>
        <p:nvSpPr>
          <p:cNvPr id="6" name="Shape 4">
            <a:hlinkClick r:id="rId2" tooltip="Go to All" action="ppaction://hlinksldjump"/>
          </p:cNvPr>
          <p:cNvSpPr/>
          <p:nvPr/>
        </p:nvSpPr>
        <p:spPr>
          <a:xfrm>
            <a:off x="7260336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50" dirty="0"/>
          </a:p>
        </p:txBody>
      </p:sp>
      <p:sp>
        <p:nvSpPr>
          <p:cNvPr id="8" name="Shape 6">
            <a:hlinkClick r:id="rId3" tooltip="Go to US" action="ppaction://hlinksldjump"/>
          </p:cNvPr>
          <p:cNvSpPr/>
          <p:nvPr/>
        </p:nvSpPr>
        <p:spPr>
          <a:xfrm>
            <a:off x="8028432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1050" dirty="0"/>
          </a:p>
        </p:txBody>
      </p:sp>
      <p:sp>
        <p:nvSpPr>
          <p:cNvPr id="10" name="Shape 8">
            <a:hlinkClick r:id="rId4" tooltip="Go to Global" action="ppaction://hlinksldjump"/>
          </p:cNvPr>
          <p:cNvSpPr/>
          <p:nvPr/>
        </p:nvSpPr>
        <p:spPr>
          <a:xfrm>
            <a:off x="8796528" y="384048"/>
            <a:ext cx="841248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3931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</a:t>
            </a:r>
            <a:endParaRPr lang="en-US" sz="1050" dirty="0"/>
          </a:p>
        </p:txBody>
      </p:sp>
      <p:sp>
        <p:nvSpPr>
          <p:cNvPr id="12" name="Shape 10">
            <a:hlinkClick r:id="rId5" tooltip="Go to Human side" action="ppaction://hlinksldjump"/>
          </p:cNvPr>
          <p:cNvSpPr/>
          <p:nvPr/>
        </p:nvSpPr>
        <p:spPr>
          <a:xfrm>
            <a:off x="9710928" y="384048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CF222B"/>
          </a:solidFill>
          <a:ln w="12700">
            <a:solidFill>
              <a:srgbClr val="CF2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393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side</a:t>
            </a:r>
            <a:endParaRPr lang="en-US" sz="1050" dirty="0"/>
          </a:p>
        </p:txBody>
      </p:sp>
      <p:sp>
        <p:nvSpPr>
          <p:cNvPr id="14" name="Shape 12">
            <a:hlinkClick r:id="rId6" tooltip="Go to Institutional" action="ppaction://hlinksldjump"/>
          </p:cNvPr>
          <p:cNvSpPr/>
          <p:nvPr/>
        </p:nvSpPr>
        <p:spPr>
          <a:xfrm>
            <a:off x="10698480" y="384048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93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1508760"/>
            <a:ext cx="9784080" cy="4553712"/>
          </a:xfrm>
          <a:prstGeom prst="roundRect">
            <a:avLst>
              <a:gd name="adj" fmla="val 803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1508760"/>
            <a:ext cx="4892040" cy="2276856"/>
          </a:xfrm>
          <a:prstGeom prst="rect">
            <a:avLst/>
          </a:prstGeom>
          <a:solidFill>
            <a:srgbClr val="EEF5FF">
              <a:alpha val="55000"/>
            </a:srgbClr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1032" y="1508760"/>
            <a:ext cx="4892040" cy="2276856"/>
          </a:xfrm>
          <a:prstGeom prst="rect">
            <a:avLst/>
          </a:prstGeom>
          <a:solidFill>
            <a:srgbClr val="ECFBF2">
              <a:alpha val="55000"/>
            </a:srgbClr>
          </a:solidFill>
          <a:ln w="12700">
            <a:solidFill>
              <a:srgbClr val="ECFB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85616"/>
            <a:ext cx="4892040" cy="2276856"/>
          </a:xfrm>
          <a:prstGeom prst="rect">
            <a:avLst/>
          </a:prstGeom>
          <a:solidFill>
            <a:srgbClr val="FFF8E8">
              <a:alpha val="55000"/>
            </a:srgbClr>
          </a:solidFill>
          <a:ln w="12700">
            <a:solidFill>
              <a:srgbClr val="FFF8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3785616"/>
            <a:ext cx="4892040" cy="2276856"/>
          </a:xfrm>
          <a:prstGeom prst="rect">
            <a:avLst/>
          </a:prstGeom>
          <a:solidFill>
            <a:srgbClr val="FFF1E8">
              <a:alpha val="50000"/>
            </a:srgbClr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501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2647188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705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924044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051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guide utility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5623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guide utility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6199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institutional / system-led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human / inviting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2128" y="1755648"/>
            <a:ext cx="2450592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F2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9110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opportunity: high guide value with a more people-made feel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directional scoring from first-fold brand signals, not audited market research.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7766890" y="3361741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7" name="Image 0" descr="/Users/alexanderbeck/Projects-code/AHA Research/reference/evidence/logos/aha-space-competitors-global-2026-04/final/american_cancer_socie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993" y="3434893"/>
            <a:ext cx="691619" cy="29260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9010904" y="3869741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9" name="Image 1" descr="/Users/alexanderbeck/Projects-code/AHA Research/reference/evidence/logos/aha-space-competitors-global-2026-04/final/st_ju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4007" y="3942893"/>
            <a:ext cx="691619" cy="29260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6991020" y="3842025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1" name="Image 2" descr="/Users/alexanderbeck/Projects-code/AHA Research/reference/evidence/logos/aha-space-competitors-global-2026-04/final/breakthrough_t1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4122" y="3915177"/>
            <a:ext cx="691619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8033923" y="4175087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3" name="Image 3" descr="/Users/alexanderbeck/Projects-code/AHA Research/reference/evidence/logos/aha-space-competitors-global-2026-04/final/susan_g_kom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025" y="4248239"/>
            <a:ext cx="691619" cy="29260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7744375" y="257489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5" name="Image 4" descr="/Users/alexanderbeck/Projects-code/AHA Research/reference/evidence/logos/aha-space-competitors-global-2026-04/final/heart_foundation_nz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37478" y="2648050"/>
            <a:ext cx="691619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6836373" y="3041674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7" name="Image 5" descr="/Users/alexanderbeck/Projects-code/AHA Research/reference/evidence/logos/aha-space-competitors-global-2026-04/final/irish_heart_foundati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9475" y="3114826"/>
            <a:ext cx="691619" cy="292608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6039067" y="3490792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9" name="Image 6" descr="/Users/alexanderbeck/Projects-code/AHA Research/reference/evidence/logos/aha-space-competitors-global-2026-04/final/heart_research_u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2170" y="3563944"/>
            <a:ext cx="69161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D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comparator brand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with 20 brands. Logos are normalized first, then placed on a matrix that asks how useful the brand feels as a guide and how human the experience feels.</a:t>
            </a:r>
            <a:endParaRPr lang="en-US" sz="1000" dirty="0"/>
          </a:p>
        </p:txBody>
      </p:sp>
      <p:sp>
        <p:nvSpPr>
          <p:cNvPr id="4" name="Shape 2">
            <a:hlinkClick r:id="rId1" tooltip="Go to Logos" action="ppaction://hlinksldjump"/>
          </p:cNvPr>
          <p:cNvSpPr/>
          <p:nvPr/>
        </p:nvSpPr>
        <p:spPr>
          <a:xfrm>
            <a:off x="6492240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Logos</a:t>
            </a:r>
            <a:endParaRPr lang="en-US" sz="1050" dirty="0"/>
          </a:p>
        </p:txBody>
      </p:sp>
      <p:sp>
        <p:nvSpPr>
          <p:cNvPr id="6" name="Shape 4">
            <a:hlinkClick r:id="rId2" tooltip="Go to All" action="ppaction://hlinksldjump"/>
          </p:cNvPr>
          <p:cNvSpPr/>
          <p:nvPr/>
        </p:nvSpPr>
        <p:spPr>
          <a:xfrm>
            <a:off x="7260336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0336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50" dirty="0"/>
          </a:p>
        </p:txBody>
      </p:sp>
      <p:sp>
        <p:nvSpPr>
          <p:cNvPr id="8" name="Shape 6">
            <a:hlinkClick r:id="rId3" tooltip="Go to US" action="ppaction://hlinksldjump"/>
          </p:cNvPr>
          <p:cNvSpPr/>
          <p:nvPr/>
        </p:nvSpPr>
        <p:spPr>
          <a:xfrm>
            <a:off x="8028432" y="384048"/>
            <a:ext cx="694944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39319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1050" dirty="0"/>
          </a:p>
        </p:txBody>
      </p:sp>
      <p:sp>
        <p:nvSpPr>
          <p:cNvPr id="10" name="Shape 8">
            <a:hlinkClick r:id="rId4" tooltip="Go to Global" action="ppaction://hlinksldjump"/>
          </p:cNvPr>
          <p:cNvSpPr/>
          <p:nvPr/>
        </p:nvSpPr>
        <p:spPr>
          <a:xfrm>
            <a:off x="8796528" y="384048"/>
            <a:ext cx="841248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3931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</a:t>
            </a:r>
            <a:endParaRPr lang="en-US" sz="1050" dirty="0"/>
          </a:p>
        </p:txBody>
      </p:sp>
      <p:sp>
        <p:nvSpPr>
          <p:cNvPr id="12" name="Shape 10">
            <a:hlinkClick r:id="rId5" tooltip="Go to Human side" action="ppaction://hlinksldjump"/>
          </p:cNvPr>
          <p:cNvSpPr/>
          <p:nvPr/>
        </p:nvSpPr>
        <p:spPr>
          <a:xfrm>
            <a:off x="9710928" y="384048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F4F0EA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393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side</a:t>
            </a:r>
            <a:endParaRPr lang="en-US" sz="1050" dirty="0"/>
          </a:p>
        </p:txBody>
      </p:sp>
      <p:sp>
        <p:nvSpPr>
          <p:cNvPr id="14" name="Shape 12">
            <a:hlinkClick r:id="rId6" tooltip="Go to Institutional" action="ppaction://hlinksldjump"/>
          </p:cNvPr>
          <p:cNvSpPr/>
          <p:nvPr/>
        </p:nvSpPr>
        <p:spPr>
          <a:xfrm>
            <a:off x="10698480" y="384048"/>
            <a:ext cx="1078992" cy="310896"/>
          </a:xfrm>
          <a:prstGeom prst="roundRect">
            <a:avLst>
              <a:gd name="adj" fmla="val 26471"/>
            </a:avLst>
          </a:prstGeom>
          <a:solidFill>
            <a:srgbClr val="CF222B"/>
          </a:solidFill>
          <a:ln w="12700">
            <a:solidFill>
              <a:srgbClr val="CF2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393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1508760"/>
            <a:ext cx="9784080" cy="4553712"/>
          </a:xfrm>
          <a:prstGeom prst="roundRect">
            <a:avLst>
              <a:gd name="adj" fmla="val 803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1508760"/>
            <a:ext cx="4892040" cy="2276856"/>
          </a:xfrm>
          <a:prstGeom prst="rect">
            <a:avLst/>
          </a:prstGeom>
          <a:solidFill>
            <a:srgbClr val="EEF5FF">
              <a:alpha val="55000"/>
            </a:srgbClr>
          </a:solidFill>
          <a:ln w="12700">
            <a:solidFill>
              <a:srgbClr val="EEF5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71032" y="1508760"/>
            <a:ext cx="4892040" cy="2276856"/>
          </a:xfrm>
          <a:prstGeom prst="rect">
            <a:avLst/>
          </a:prstGeom>
          <a:solidFill>
            <a:srgbClr val="ECFBF2">
              <a:alpha val="55000"/>
            </a:srgbClr>
          </a:solidFill>
          <a:ln w="12700">
            <a:solidFill>
              <a:srgbClr val="ECFB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85616"/>
            <a:ext cx="4892040" cy="2276856"/>
          </a:xfrm>
          <a:prstGeom prst="rect">
            <a:avLst/>
          </a:prstGeom>
          <a:solidFill>
            <a:srgbClr val="FFF8E8">
              <a:alpha val="55000"/>
            </a:srgbClr>
          </a:solidFill>
          <a:ln w="12700">
            <a:solidFill>
              <a:srgbClr val="FFF8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3785616"/>
            <a:ext cx="4892040" cy="2276856"/>
          </a:xfrm>
          <a:prstGeom prst="rect">
            <a:avLst/>
          </a:prstGeom>
          <a:solidFill>
            <a:srgbClr val="FFF1E8">
              <a:alpha val="50000"/>
            </a:srgbClr>
          </a:solidFill>
          <a:ln w="12700">
            <a:solidFill>
              <a:srgbClr val="FFF1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501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8992" y="2647188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7052" y="1508760"/>
            <a:ext cx="0" cy="4553712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924044"/>
            <a:ext cx="9784080" cy="0"/>
          </a:xfrm>
          <a:prstGeom prst="line">
            <a:avLst/>
          </a:prstGeom>
          <a:noFill/>
          <a:ln w="12700">
            <a:solidFill>
              <a:srgbClr val="D5D7DA">
                <a:alpha val="6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508760"/>
            <a:ext cx="0" cy="4553712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3785616"/>
            <a:ext cx="9784080" cy="0"/>
          </a:xfrm>
          <a:prstGeom prst="line">
            <a:avLst/>
          </a:prstGeom>
          <a:noFill/>
          <a:ln w="17145">
            <a:solidFill>
              <a:srgbClr val="414651">
                <a:alpha val="74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051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guide utility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5623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guide utility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61996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institutional / system-led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14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human / inviting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82128" y="1755648"/>
            <a:ext cx="2450592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F22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91109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F2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 opportunity: high guide value with a more people-made feel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directional scoring from first-fold brand signals, not audited market research.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2814320" y="1563624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7" name="Image 0" descr="/Users/alexanderbeck/Projects-code/AHA Research/reference/evidence/logos/aha-space-competitors-global-2026-04/final/mayo_clin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423" y="1636776"/>
            <a:ext cx="691619" cy="29260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001291" y="1894486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39" name="Image 1" descr="/Users/alexanderbeck/Projects-code/AHA Research/reference/evidence/logos/aha-space-competitors-global-2026-04/final/cleveland_clini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4394" y="1967638"/>
            <a:ext cx="691619" cy="29260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5334480" y="2770790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1" name="Image 2" descr="/Users/alexanderbeck/Projects-code/AHA Research/reference/evidence/logos/aha-space-competitors-global-2026-04/final/american_diabetes_associa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582" y="2843942"/>
            <a:ext cx="691619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4990945" y="2102175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3" name="Image 3" descr="/Users/alexanderbeck/Projects-code/AHA Research/reference/evidence/logos/aha-space-competitors-global-2026-04/final/american_lung_associati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048" y="2175327"/>
            <a:ext cx="691619" cy="29260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6165761" y="2341072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5" name="Image 4" descr="/Users/alexanderbeck/Projects-code/AHA Research/reference/evidence/logos/aha-space-competitors-global-2026-04/final/heart_foundation_australi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8864" y="2414224"/>
            <a:ext cx="691619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4124187" y="2498870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7DA"/>
            </a:solidFill>
            <a:prstDash val="solid"/>
          </a:ln>
          <a:effectLst>
            <a:outerShdw sx="100000" sy="100000" kx="0" ky="0" algn="bl" rotWithShape="0" blurRad="12700" dist="50800" dir="2700000">
              <a:srgbClr val="B8B0A5">
                <a:alpha val="15000"/>
              </a:srgbClr>
            </a:outerShdw>
          </a:effectLst>
        </p:spPr>
      </p:sp>
      <p:pic>
        <p:nvPicPr>
          <p:cNvPr id="47" name="Image 5" descr="/Users/alexanderbeck/Projects-code/AHA Research/reference/evidence/logos/aha-space-competitors-global-2026-04/final/deutsche_herzstiftu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7289" y="2572022"/>
            <a:ext cx="691619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 competitor brand matrix</dc:title>
  <dc:subject>AHA competitor brand matrix</dc:subject>
  <dc:creator>Codex</dc:creator>
  <cp:lastModifiedBy>Codex</cp:lastModifiedBy>
  <cp:revision>1</cp:revision>
  <dcterms:created xsi:type="dcterms:W3CDTF">2026-04-17T09:57:44Z</dcterms:created>
  <dcterms:modified xsi:type="dcterms:W3CDTF">2026-04-17T09:57:44Z</dcterms:modified>
</cp:coreProperties>
</file>