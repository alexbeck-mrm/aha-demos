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2377440" cy="164592"/>
          </a:xfrm>
          <a:prstGeom prst="rect">
            <a:avLst/>
          </a:prstGeom>
          <a:noFill/>
          <a:ln/>
        </p:spPr>
        <p:txBody>
          <a:bodyPr wrap="square" lIns="0" tIns="0" rIns="0" bIns="0" rtlCol="0" anchor="ctr"/>
          <a:lstStyle/>
          <a:p>
            <a:pPr indent="0" marL="0">
              <a:buNone/>
            </a:pPr>
            <a:r>
              <a:rPr lang="en-US" sz="950" b="1" dirty="0">
                <a:solidFill>
                  <a:srgbClr val="D3031F"/>
                </a:solidFill>
                <a:latin typeface="Arial" pitchFamily="34" charset="0"/>
                <a:ea typeface="Arial" pitchFamily="34" charset="-122"/>
                <a:cs typeface="Arial" pitchFamily="34" charset="-120"/>
              </a:rPr>
              <a:t>WHY WE ARE RAISING THIS NOW</a:t>
            </a:r>
            <a:endParaRPr lang="en-US" sz="950" dirty="0"/>
          </a:p>
        </p:txBody>
      </p:sp>
      <p:sp>
        <p:nvSpPr>
          <p:cNvPr id="3" name="Shape 1"/>
          <p:cNvSpPr/>
          <p:nvPr/>
        </p:nvSpPr>
        <p:spPr>
          <a:xfrm>
            <a:off x="658368" y="621792"/>
            <a:ext cx="10863072" cy="0"/>
          </a:xfrm>
          <a:prstGeom prst="line">
            <a:avLst/>
          </a:prstGeom>
          <a:noFill/>
          <a:ln w="15875">
            <a:solidFill>
              <a:srgbClr val="DADADA"/>
            </a:solidFill>
            <a:prstDash val="solid"/>
          </a:ln>
        </p:spPr>
      </p:sp>
      <p:sp>
        <p:nvSpPr>
          <p:cNvPr id="4" name="Text 2"/>
          <p:cNvSpPr/>
          <p:nvPr/>
        </p:nvSpPr>
        <p:spPr>
          <a:xfrm>
            <a:off x="658368" y="896112"/>
            <a:ext cx="6492240" cy="1298448"/>
          </a:xfrm>
          <a:prstGeom prst="rect">
            <a:avLst/>
          </a:prstGeom>
          <a:noFill/>
          <a:ln/>
        </p:spPr>
        <p:txBody>
          <a:bodyPr wrap="square" lIns="0" tIns="0" rIns="0" bIns="0" rtlCol="0" anchor="t">
            <a:normAutofit/>
          </a:bodyPr>
          <a:lstStyle/>
          <a:p>
            <a:pPr indent="0" marL="0">
              <a:buNone/>
            </a:pPr>
            <a:r>
              <a:rPr lang="en-US" sz="2800" b="1" dirty="0">
                <a:solidFill>
                  <a:srgbClr val="111111"/>
                </a:solidFill>
                <a:latin typeface="Georgia" pitchFamily="34" charset="0"/>
                <a:ea typeface="Georgia" pitchFamily="34" charset="-122"/>
                <a:cs typeface="Georgia" pitchFamily="34" charset="-120"/>
              </a:rPr>
              <a:t>The website refresh is already the first phase of AHA's next brand expression.</a:t>
            </a:r>
            <a:endParaRPr lang="en-US" sz="2800" dirty="0"/>
          </a:p>
        </p:txBody>
      </p:sp>
      <p:sp>
        <p:nvSpPr>
          <p:cNvPr id="5" name="Text 3"/>
          <p:cNvSpPr/>
          <p:nvPr/>
        </p:nvSpPr>
        <p:spPr>
          <a:xfrm>
            <a:off x="676656" y="2267712"/>
            <a:ext cx="5806440" cy="1828800"/>
          </a:xfrm>
          <a:prstGeom prst="rect">
            <a:avLst/>
          </a:prstGeom>
          <a:noFill/>
          <a:ln/>
        </p:spPr>
        <p:txBody>
          <a:bodyPr wrap="square" lIns="0" tIns="0" rIns="0" bIns="0" rtlCol="0" anchor="t">
            <a:normAutofit/>
          </a:bodyPr>
          <a:lstStyle/>
          <a:p>
            <a:pPr indent="0" marL="0">
              <a:buNone/>
            </a:pPr>
            <a:r>
              <a:rPr lang="en-US" sz="1420" dirty="0">
                <a:solidFill>
                  <a:srgbClr val="5C5C5C"/>
                </a:solidFill>
                <a:latin typeface="Arial" pitchFamily="34" charset="0"/>
                <a:ea typeface="Arial" pitchFamily="34" charset="-122"/>
                <a:cs typeface="Arial" pitchFamily="34" charset="-120"/>
              </a:rPr>
              <a:t>We wanted to address the internal rebrand conversation directly. The instinct is right: AHA should use this moment to evolve how the brand shows up. Our view is that the website is the right place to establish that next expression first, because it is AHA's broadest and most active public touchpoint.</a:t>
            </a:r>
            <a:endParaRPr lang="en-US" sz="1420" dirty="0"/>
          </a:p>
        </p:txBody>
      </p:sp>
      <p:sp>
        <p:nvSpPr>
          <p:cNvPr id="6" name="Shape 4"/>
          <p:cNvSpPr/>
          <p:nvPr/>
        </p:nvSpPr>
        <p:spPr>
          <a:xfrm>
            <a:off x="7498080" y="1078992"/>
            <a:ext cx="4023360" cy="3602736"/>
          </a:xfrm>
          <a:prstGeom prst="roundRect">
            <a:avLst>
              <a:gd name="adj" fmla="val 2030"/>
            </a:avLst>
          </a:prstGeom>
          <a:solidFill>
            <a:srgbClr val="F5F5F5"/>
          </a:solidFill>
          <a:ln w="12700">
            <a:solidFill>
              <a:srgbClr val="DADADA"/>
            </a:solidFill>
            <a:prstDash val="solid"/>
          </a:ln>
        </p:spPr>
      </p:sp>
      <p:sp>
        <p:nvSpPr>
          <p:cNvPr id="7" name="Shape 5"/>
          <p:cNvSpPr/>
          <p:nvPr/>
        </p:nvSpPr>
        <p:spPr>
          <a:xfrm>
            <a:off x="7498080" y="1078992"/>
            <a:ext cx="4023360" cy="0"/>
          </a:xfrm>
          <a:prstGeom prst="line">
            <a:avLst/>
          </a:prstGeom>
          <a:noFill/>
          <a:ln w="31750">
            <a:solidFill>
              <a:srgbClr val="D3031F"/>
            </a:solidFill>
            <a:prstDash val="solid"/>
          </a:ln>
        </p:spPr>
      </p:sp>
      <p:sp>
        <p:nvSpPr>
          <p:cNvPr id="8" name="Text 6"/>
          <p:cNvSpPr/>
          <p:nvPr/>
        </p:nvSpPr>
        <p:spPr>
          <a:xfrm>
            <a:off x="7772400" y="1389888"/>
            <a:ext cx="3291840" cy="310896"/>
          </a:xfrm>
          <a:prstGeom prst="rect">
            <a:avLst/>
          </a:prstGeom>
          <a:noFill/>
          <a:ln/>
        </p:spPr>
        <p:txBody>
          <a:bodyPr wrap="square" lIns="0" tIns="0" rIns="0" bIns="0" rtlCol="0" anchor="ctr"/>
          <a:lstStyle/>
          <a:p>
            <a:pPr indent="0" marL="0">
              <a:buNone/>
            </a:pPr>
            <a:r>
              <a:rPr lang="en-US" sz="1100" b="1" dirty="0">
                <a:solidFill>
                  <a:srgbClr val="D3031F"/>
                </a:solidFill>
                <a:latin typeface="Arial" pitchFamily="34" charset="0"/>
                <a:ea typeface="Arial" pitchFamily="34" charset="-122"/>
                <a:cs typeface="Arial" pitchFamily="34" charset="-120"/>
              </a:rPr>
              <a:t>Why this is the right starting point</a:t>
            </a:r>
            <a:endParaRPr lang="en-US" sz="1100" dirty="0"/>
          </a:p>
        </p:txBody>
      </p:sp>
      <p:sp>
        <p:nvSpPr>
          <p:cNvPr id="9" name="Shape 7"/>
          <p:cNvSpPr/>
          <p:nvPr/>
        </p:nvSpPr>
        <p:spPr>
          <a:xfrm>
            <a:off x="7772400" y="1865376"/>
            <a:ext cx="402336" cy="493776"/>
          </a:xfrm>
          <a:prstGeom prst="roundRect">
            <a:avLst>
              <a:gd name="adj" fmla="val 18182"/>
            </a:avLst>
          </a:prstGeom>
          <a:solidFill>
            <a:srgbClr val="F8EDEE"/>
          </a:solidFill>
          <a:ln w="12700">
            <a:solidFill>
              <a:srgbClr val="F8EDEE"/>
            </a:solidFill>
            <a:prstDash val="solid"/>
          </a:ln>
        </p:spPr>
      </p:sp>
      <p:sp>
        <p:nvSpPr>
          <p:cNvPr id="10" name="Text 8"/>
          <p:cNvSpPr/>
          <p:nvPr/>
        </p:nvSpPr>
        <p:spPr>
          <a:xfrm>
            <a:off x="7772400" y="1856232"/>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8339328" y="1847088"/>
            <a:ext cx="2724912" cy="530352"/>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AHA's primary public touchpoint</a:t>
            </a:r>
            <a:endParaRPr lang="en-US" sz="1340" dirty="0"/>
          </a:p>
        </p:txBody>
      </p:sp>
      <p:sp>
        <p:nvSpPr>
          <p:cNvPr id="12" name="Shape 10"/>
          <p:cNvSpPr/>
          <p:nvPr/>
        </p:nvSpPr>
        <p:spPr>
          <a:xfrm>
            <a:off x="7772400" y="2505456"/>
            <a:ext cx="402336" cy="493776"/>
          </a:xfrm>
          <a:prstGeom prst="roundRect">
            <a:avLst>
              <a:gd name="adj" fmla="val 18182"/>
            </a:avLst>
          </a:prstGeom>
          <a:solidFill>
            <a:srgbClr val="F8EDEE"/>
          </a:solidFill>
          <a:ln w="12700">
            <a:solidFill>
              <a:srgbClr val="F8EDEE"/>
            </a:solidFill>
            <a:prstDash val="solid"/>
          </a:ln>
        </p:spPr>
      </p:sp>
      <p:sp>
        <p:nvSpPr>
          <p:cNvPr id="13" name="Text 11"/>
          <p:cNvSpPr/>
          <p:nvPr/>
        </p:nvSpPr>
        <p:spPr>
          <a:xfrm>
            <a:off x="7772400" y="2496312"/>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2</a:t>
            </a:r>
            <a:endParaRPr lang="en-US" sz="1200" dirty="0"/>
          </a:p>
        </p:txBody>
      </p:sp>
      <p:sp>
        <p:nvSpPr>
          <p:cNvPr id="14" name="Text 12"/>
          <p:cNvSpPr/>
          <p:nvPr/>
        </p:nvSpPr>
        <p:spPr>
          <a:xfrm>
            <a:off x="8339328" y="2487168"/>
            <a:ext cx="2724912" cy="530352"/>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The broadest audience surface</a:t>
            </a:r>
            <a:endParaRPr lang="en-US" sz="1340" dirty="0"/>
          </a:p>
        </p:txBody>
      </p:sp>
      <p:sp>
        <p:nvSpPr>
          <p:cNvPr id="15" name="Shape 13"/>
          <p:cNvSpPr/>
          <p:nvPr/>
        </p:nvSpPr>
        <p:spPr>
          <a:xfrm>
            <a:off x="7772400" y="3145536"/>
            <a:ext cx="402336" cy="493776"/>
          </a:xfrm>
          <a:prstGeom prst="roundRect">
            <a:avLst>
              <a:gd name="adj" fmla="val 18182"/>
            </a:avLst>
          </a:prstGeom>
          <a:solidFill>
            <a:srgbClr val="F8EDEE"/>
          </a:solidFill>
          <a:ln w="12700">
            <a:solidFill>
              <a:srgbClr val="F8EDEE"/>
            </a:solidFill>
            <a:prstDash val="solid"/>
          </a:ln>
        </p:spPr>
      </p:sp>
      <p:sp>
        <p:nvSpPr>
          <p:cNvPr id="16" name="Text 14"/>
          <p:cNvSpPr/>
          <p:nvPr/>
        </p:nvSpPr>
        <p:spPr>
          <a:xfrm>
            <a:off x="7772400" y="3136392"/>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8339328" y="3127248"/>
            <a:ext cx="2724912" cy="530352"/>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The best foundation for future rollout</a:t>
            </a:r>
            <a:endParaRPr lang="en-US" sz="1340" dirty="0"/>
          </a:p>
        </p:txBody>
      </p:sp>
      <p:sp>
        <p:nvSpPr>
          <p:cNvPr id="18" name="Shape 16"/>
          <p:cNvSpPr/>
          <p:nvPr/>
        </p:nvSpPr>
        <p:spPr>
          <a:xfrm>
            <a:off x="658368" y="6053328"/>
            <a:ext cx="10863072" cy="438912"/>
          </a:xfrm>
          <a:prstGeom prst="roundRect">
            <a:avLst>
              <a:gd name="adj" fmla="val 16667"/>
            </a:avLst>
          </a:prstGeom>
          <a:solidFill>
            <a:srgbClr val="F8EDEE"/>
          </a:solidFill>
          <a:ln w="12700">
            <a:solidFill>
              <a:srgbClr val="F8EDEE"/>
            </a:solidFill>
            <a:prstDash val="solid"/>
          </a:ln>
        </p:spPr>
      </p:sp>
      <p:sp>
        <p:nvSpPr>
          <p:cNvPr id="19" name="Text 17"/>
          <p:cNvSpPr/>
          <p:nvPr/>
        </p:nvSpPr>
        <p:spPr>
          <a:xfrm>
            <a:off x="859536" y="6181344"/>
            <a:ext cx="10460736" cy="164592"/>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Arial" pitchFamily="34" charset="0"/>
                <a:ea typeface="Arial" pitchFamily="34" charset="-122"/>
                <a:cs typeface="Arial" pitchFamily="34" charset="-120"/>
              </a:rPr>
              <a:t>This is not a recommendation to pause brand thinking. It is a recommendation to sequence it well.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2377440" cy="164592"/>
          </a:xfrm>
          <a:prstGeom prst="rect">
            <a:avLst/>
          </a:prstGeom>
          <a:noFill/>
          <a:ln/>
        </p:spPr>
        <p:txBody>
          <a:bodyPr wrap="square" lIns="0" tIns="0" rIns="0" bIns="0" rtlCol="0" anchor="ctr"/>
          <a:lstStyle/>
          <a:p>
            <a:pPr indent="0" marL="0">
              <a:buNone/>
            </a:pPr>
            <a:r>
              <a:rPr lang="en-US" sz="950" b="1" dirty="0">
                <a:solidFill>
                  <a:srgbClr val="D3031F"/>
                </a:solidFill>
                <a:latin typeface="Arial" pitchFamily="34" charset="0"/>
                <a:ea typeface="Arial" pitchFamily="34" charset="-122"/>
                <a:cs typeface="Arial" pitchFamily="34" charset="-120"/>
              </a:rPr>
              <a:t>WHAT THIS WORKSTREAM ALREADY COVERS</a:t>
            </a:r>
            <a:endParaRPr lang="en-US" sz="950" dirty="0"/>
          </a:p>
        </p:txBody>
      </p:sp>
      <p:sp>
        <p:nvSpPr>
          <p:cNvPr id="3" name="Shape 1"/>
          <p:cNvSpPr/>
          <p:nvPr/>
        </p:nvSpPr>
        <p:spPr>
          <a:xfrm>
            <a:off x="658368" y="621792"/>
            <a:ext cx="10863072" cy="0"/>
          </a:xfrm>
          <a:prstGeom prst="line">
            <a:avLst/>
          </a:prstGeom>
          <a:noFill/>
          <a:ln w="15875">
            <a:solidFill>
              <a:srgbClr val="DADADA"/>
            </a:solidFill>
            <a:prstDash val="solid"/>
          </a:ln>
        </p:spPr>
      </p:sp>
      <p:sp>
        <p:nvSpPr>
          <p:cNvPr id="4" name="Text 2"/>
          <p:cNvSpPr/>
          <p:nvPr/>
        </p:nvSpPr>
        <p:spPr>
          <a:xfrm>
            <a:off x="658368" y="896112"/>
            <a:ext cx="7498080" cy="804672"/>
          </a:xfrm>
          <a:prstGeom prst="rect">
            <a:avLst/>
          </a:prstGeom>
          <a:noFill/>
          <a:ln/>
        </p:spPr>
        <p:txBody>
          <a:bodyPr wrap="square" lIns="0" tIns="0" rIns="0" bIns="0" rtlCol="0" anchor="t">
            <a:normAutofit/>
          </a:bodyPr>
          <a:lstStyle/>
          <a:p>
            <a:pPr indent="0" marL="0">
              <a:buNone/>
            </a:pPr>
            <a:r>
              <a:rPr lang="en-US" sz="2400" b="1" dirty="0">
                <a:solidFill>
                  <a:srgbClr val="111111"/>
                </a:solidFill>
                <a:latin typeface="Georgia" pitchFamily="34" charset="0"/>
                <a:ea typeface="Georgia" pitchFamily="34" charset="-122"/>
                <a:cs typeface="Georgia" pitchFamily="34" charset="-120"/>
              </a:rPr>
              <a:t>We are already redefining how AHA shows up digitally.</a:t>
            </a:r>
            <a:endParaRPr lang="en-US" sz="2400" dirty="0"/>
          </a:p>
        </p:txBody>
      </p:sp>
      <p:sp>
        <p:nvSpPr>
          <p:cNvPr id="5" name="Text 3"/>
          <p:cNvSpPr/>
          <p:nvPr/>
        </p:nvSpPr>
        <p:spPr>
          <a:xfrm>
            <a:off x="676656" y="1956816"/>
            <a:ext cx="2743200" cy="201168"/>
          </a:xfrm>
          <a:prstGeom prst="rect">
            <a:avLst/>
          </a:prstGeom>
          <a:noFill/>
          <a:ln/>
        </p:spPr>
        <p:txBody>
          <a:bodyPr wrap="square" lIns="0" tIns="0" rIns="0" bIns="0" rtlCol="0" anchor="ctr"/>
          <a:lstStyle/>
          <a:p>
            <a:pPr indent="0" marL="0">
              <a:buNone/>
            </a:pPr>
            <a:r>
              <a:rPr lang="en-US" sz="1100" b="1" dirty="0">
                <a:solidFill>
                  <a:srgbClr val="D3031F"/>
                </a:solidFill>
                <a:latin typeface="Arial" pitchFamily="34" charset="0"/>
                <a:ea typeface="Arial" pitchFamily="34" charset="-122"/>
                <a:cs typeface="Arial" pitchFamily="34" charset="-120"/>
              </a:rPr>
              <a:t>What we are defining now</a:t>
            </a:r>
            <a:endParaRPr lang="en-US" sz="1100" dirty="0"/>
          </a:p>
        </p:txBody>
      </p:sp>
      <p:sp>
        <p:nvSpPr>
          <p:cNvPr id="6" name="Shape 4"/>
          <p:cNvSpPr/>
          <p:nvPr/>
        </p:nvSpPr>
        <p:spPr>
          <a:xfrm>
            <a:off x="676656" y="2231136"/>
            <a:ext cx="402336" cy="420624"/>
          </a:xfrm>
          <a:prstGeom prst="roundRect">
            <a:avLst>
              <a:gd name="adj" fmla="val 18182"/>
            </a:avLst>
          </a:prstGeom>
          <a:solidFill>
            <a:srgbClr val="F8EDEE"/>
          </a:solidFill>
          <a:ln w="12700">
            <a:solidFill>
              <a:srgbClr val="F8EDEE"/>
            </a:solidFill>
            <a:prstDash val="solid"/>
          </a:ln>
        </p:spPr>
      </p:sp>
      <p:sp>
        <p:nvSpPr>
          <p:cNvPr id="7" name="Text 5"/>
          <p:cNvSpPr/>
          <p:nvPr/>
        </p:nvSpPr>
        <p:spPr>
          <a:xfrm>
            <a:off x="676656" y="2221992"/>
            <a:ext cx="402336" cy="438912"/>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243584" y="2212848"/>
            <a:ext cx="4782312" cy="457200"/>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Visual expression and image system</a:t>
            </a:r>
            <a:endParaRPr lang="en-US" sz="1340" dirty="0"/>
          </a:p>
        </p:txBody>
      </p:sp>
      <p:sp>
        <p:nvSpPr>
          <p:cNvPr id="9" name="Shape 7"/>
          <p:cNvSpPr/>
          <p:nvPr/>
        </p:nvSpPr>
        <p:spPr>
          <a:xfrm>
            <a:off x="676656" y="2779776"/>
            <a:ext cx="402336" cy="420624"/>
          </a:xfrm>
          <a:prstGeom prst="roundRect">
            <a:avLst>
              <a:gd name="adj" fmla="val 18182"/>
            </a:avLst>
          </a:prstGeom>
          <a:solidFill>
            <a:srgbClr val="F8EDEE"/>
          </a:solidFill>
          <a:ln w="12700">
            <a:solidFill>
              <a:srgbClr val="F8EDEE"/>
            </a:solidFill>
            <a:prstDash val="solid"/>
          </a:ln>
        </p:spPr>
      </p:sp>
      <p:sp>
        <p:nvSpPr>
          <p:cNvPr id="10" name="Text 8"/>
          <p:cNvSpPr/>
          <p:nvPr/>
        </p:nvSpPr>
        <p:spPr>
          <a:xfrm>
            <a:off x="676656" y="2770632"/>
            <a:ext cx="402336" cy="438912"/>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243584" y="2761488"/>
            <a:ext cx="4782312" cy="457200"/>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How the palette evolves without losing AHA recognition</a:t>
            </a:r>
            <a:endParaRPr lang="en-US" sz="1340" dirty="0"/>
          </a:p>
        </p:txBody>
      </p:sp>
      <p:sp>
        <p:nvSpPr>
          <p:cNvPr id="12" name="Shape 10"/>
          <p:cNvSpPr/>
          <p:nvPr/>
        </p:nvSpPr>
        <p:spPr>
          <a:xfrm>
            <a:off x="676656" y="3328416"/>
            <a:ext cx="402336" cy="420624"/>
          </a:xfrm>
          <a:prstGeom prst="roundRect">
            <a:avLst>
              <a:gd name="adj" fmla="val 18182"/>
            </a:avLst>
          </a:prstGeom>
          <a:solidFill>
            <a:srgbClr val="F8EDEE"/>
          </a:solidFill>
          <a:ln w="12700">
            <a:solidFill>
              <a:srgbClr val="F8EDEE"/>
            </a:solidFill>
            <a:prstDash val="solid"/>
          </a:ln>
        </p:spPr>
      </p:sp>
      <p:sp>
        <p:nvSpPr>
          <p:cNvPr id="13" name="Text 11"/>
          <p:cNvSpPr/>
          <p:nvPr/>
        </p:nvSpPr>
        <p:spPr>
          <a:xfrm>
            <a:off x="676656" y="3319272"/>
            <a:ext cx="402336" cy="438912"/>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243584" y="3310128"/>
            <a:ext cx="4782312" cy="457200"/>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Motion behavior and overall feel</a:t>
            </a:r>
            <a:endParaRPr lang="en-US" sz="1340" dirty="0"/>
          </a:p>
        </p:txBody>
      </p:sp>
      <p:sp>
        <p:nvSpPr>
          <p:cNvPr id="15" name="Shape 13"/>
          <p:cNvSpPr/>
          <p:nvPr/>
        </p:nvSpPr>
        <p:spPr>
          <a:xfrm>
            <a:off x="676656" y="3877056"/>
            <a:ext cx="402336" cy="420624"/>
          </a:xfrm>
          <a:prstGeom prst="roundRect">
            <a:avLst>
              <a:gd name="adj" fmla="val 18182"/>
            </a:avLst>
          </a:prstGeom>
          <a:solidFill>
            <a:srgbClr val="F8EDEE"/>
          </a:solidFill>
          <a:ln w="12700">
            <a:solidFill>
              <a:srgbClr val="F8EDEE"/>
            </a:solidFill>
            <a:prstDash val="solid"/>
          </a:ln>
        </p:spPr>
      </p:sp>
      <p:sp>
        <p:nvSpPr>
          <p:cNvPr id="16" name="Text 14"/>
          <p:cNvSpPr/>
          <p:nvPr/>
        </p:nvSpPr>
        <p:spPr>
          <a:xfrm>
            <a:off x="676656" y="3867912"/>
            <a:ext cx="402336" cy="438912"/>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243584" y="3858768"/>
            <a:ext cx="4782312" cy="457200"/>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Tone of voice in the digital environment</a:t>
            </a:r>
            <a:endParaRPr lang="en-US" sz="1340" dirty="0"/>
          </a:p>
        </p:txBody>
      </p:sp>
      <p:sp>
        <p:nvSpPr>
          <p:cNvPr id="18" name="Shape 16"/>
          <p:cNvSpPr/>
          <p:nvPr/>
        </p:nvSpPr>
        <p:spPr>
          <a:xfrm>
            <a:off x="676656" y="4425696"/>
            <a:ext cx="402336" cy="420624"/>
          </a:xfrm>
          <a:prstGeom prst="roundRect">
            <a:avLst>
              <a:gd name="adj" fmla="val 18182"/>
            </a:avLst>
          </a:prstGeom>
          <a:solidFill>
            <a:srgbClr val="F8EDEE"/>
          </a:solidFill>
          <a:ln w="12700">
            <a:solidFill>
              <a:srgbClr val="F8EDEE"/>
            </a:solidFill>
            <a:prstDash val="solid"/>
          </a:ln>
        </p:spPr>
      </p:sp>
      <p:sp>
        <p:nvSpPr>
          <p:cNvPr id="19" name="Text 17"/>
          <p:cNvSpPr/>
          <p:nvPr/>
        </p:nvSpPr>
        <p:spPr>
          <a:xfrm>
            <a:off x="676656" y="4416552"/>
            <a:ext cx="402336" cy="438912"/>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1243584" y="4407408"/>
            <a:ext cx="4782312" cy="457200"/>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Component language and interaction character</a:t>
            </a:r>
            <a:endParaRPr lang="en-US" sz="1340" dirty="0"/>
          </a:p>
        </p:txBody>
      </p:sp>
      <p:sp>
        <p:nvSpPr>
          <p:cNvPr id="21" name="Shape 19"/>
          <p:cNvSpPr/>
          <p:nvPr/>
        </p:nvSpPr>
        <p:spPr>
          <a:xfrm>
            <a:off x="676656" y="4974336"/>
            <a:ext cx="402336" cy="420624"/>
          </a:xfrm>
          <a:prstGeom prst="roundRect">
            <a:avLst>
              <a:gd name="adj" fmla="val 18182"/>
            </a:avLst>
          </a:prstGeom>
          <a:solidFill>
            <a:srgbClr val="F8EDEE"/>
          </a:solidFill>
          <a:ln w="12700">
            <a:solidFill>
              <a:srgbClr val="F8EDEE"/>
            </a:solidFill>
            <a:prstDash val="solid"/>
          </a:ln>
        </p:spPr>
      </p:sp>
      <p:sp>
        <p:nvSpPr>
          <p:cNvPr id="22" name="Text 20"/>
          <p:cNvSpPr/>
          <p:nvPr/>
        </p:nvSpPr>
        <p:spPr>
          <a:xfrm>
            <a:off x="676656" y="4965192"/>
            <a:ext cx="402336" cy="438912"/>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6</a:t>
            </a:r>
            <a:endParaRPr lang="en-US" sz="1200" dirty="0"/>
          </a:p>
        </p:txBody>
      </p:sp>
      <p:sp>
        <p:nvSpPr>
          <p:cNvPr id="23" name="Text 21"/>
          <p:cNvSpPr/>
          <p:nvPr/>
        </p:nvSpPr>
        <p:spPr>
          <a:xfrm>
            <a:off x="1243584" y="4956048"/>
            <a:ext cx="4782312" cy="457200"/>
          </a:xfrm>
          <a:prstGeom prst="rect">
            <a:avLst/>
          </a:prstGeom>
          <a:noFill/>
          <a:ln/>
        </p:spPr>
        <p:txBody>
          <a:bodyPr wrap="square" lIns="0" tIns="0" rIns="0" bIns="0" rtlCol="0" anchor="ctr">
            <a:normAutofit/>
          </a:bodyPr>
          <a:lstStyle/>
          <a:p>
            <a:pPr indent="0" marL="0">
              <a:buNone/>
            </a:pPr>
            <a:r>
              <a:rPr lang="en-US" sz="1340" dirty="0">
                <a:solidFill>
                  <a:srgbClr val="111111"/>
                </a:solidFill>
                <a:latin typeface="Arial" pitchFamily="34" charset="0"/>
                <a:ea typeface="Arial" pitchFamily="34" charset="-122"/>
                <a:cs typeface="Arial" pitchFamily="34" charset="-120"/>
              </a:rPr>
              <a:t>The major moments and touchpoints of the website</a:t>
            </a:r>
            <a:endParaRPr lang="en-US" sz="1340" dirty="0"/>
          </a:p>
        </p:txBody>
      </p:sp>
      <p:sp>
        <p:nvSpPr>
          <p:cNvPr id="24" name="Shape 22"/>
          <p:cNvSpPr/>
          <p:nvPr/>
        </p:nvSpPr>
        <p:spPr>
          <a:xfrm>
            <a:off x="6510528" y="1956816"/>
            <a:ext cx="5010912" cy="3456432"/>
          </a:xfrm>
          <a:prstGeom prst="roundRect">
            <a:avLst>
              <a:gd name="adj" fmla="val 2116"/>
            </a:avLst>
          </a:prstGeom>
          <a:solidFill>
            <a:srgbClr val="F8EDEE"/>
          </a:solidFill>
          <a:ln w="12700">
            <a:solidFill>
              <a:srgbClr val="F8EDEE"/>
            </a:solidFill>
            <a:prstDash val="solid"/>
          </a:ln>
        </p:spPr>
      </p:sp>
      <p:sp>
        <p:nvSpPr>
          <p:cNvPr id="25" name="Shape 23"/>
          <p:cNvSpPr/>
          <p:nvPr/>
        </p:nvSpPr>
        <p:spPr>
          <a:xfrm>
            <a:off x="6510528" y="1956816"/>
            <a:ext cx="5010912" cy="0"/>
          </a:xfrm>
          <a:prstGeom prst="line">
            <a:avLst/>
          </a:prstGeom>
          <a:noFill/>
          <a:ln w="31750">
            <a:solidFill>
              <a:srgbClr val="D3031F"/>
            </a:solidFill>
            <a:prstDash val="solid"/>
          </a:ln>
        </p:spPr>
      </p:sp>
      <p:sp>
        <p:nvSpPr>
          <p:cNvPr id="26" name="Text 24"/>
          <p:cNvSpPr/>
          <p:nvPr/>
        </p:nvSpPr>
        <p:spPr>
          <a:xfrm>
            <a:off x="6784848" y="2249424"/>
            <a:ext cx="2286000" cy="219456"/>
          </a:xfrm>
          <a:prstGeom prst="rect">
            <a:avLst/>
          </a:prstGeom>
          <a:noFill/>
          <a:ln/>
        </p:spPr>
        <p:txBody>
          <a:bodyPr wrap="square" lIns="0" tIns="0" rIns="0" bIns="0" rtlCol="0" anchor="ctr"/>
          <a:lstStyle/>
          <a:p>
            <a:pPr indent="0" marL="0">
              <a:buNone/>
            </a:pPr>
            <a:r>
              <a:rPr lang="en-US" sz="1100" b="1" dirty="0">
                <a:solidFill>
                  <a:srgbClr val="D3031F"/>
                </a:solidFill>
                <a:latin typeface="Arial" pitchFamily="34" charset="0"/>
                <a:ea typeface="Arial" pitchFamily="34" charset="-122"/>
                <a:cs typeface="Arial" pitchFamily="34" charset="-120"/>
              </a:rPr>
              <a:t>Boundary for this phase</a:t>
            </a:r>
            <a:endParaRPr lang="en-US" sz="1100" dirty="0"/>
          </a:p>
        </p:txBody>
      </p:sp>
      <p:sp>
        <p:nvSpPr>
          <p:cNvPr id="27" name="Text 25"/>
          <p:cNvSpPr/>
          <p:nvPr/>
        </p:nvSpPr>
        <p:spPr>
          <a:xfrm>
            <a:off x="6784848" y="2596896"/>
            <a:ext cx="4206240" cy="1133856"/>
          </a:xfrm>
          <a:prstGeom prst="rect">
            <a:avLst/>
          </a:prstGeom>
          <a:noFill/>
          <a:ln/>
        </p:spPr>
        <p:txBody>
          <a:bodyPr wrap="square" lIns="0" tIns="0" rIns="0" bIns="0" rtlCol="0" anchor="t">
            <a:normAutofit/>
          </a:bodyPr>
          <a:lstStyle/>
          <a:p>
            <a:pPr indent="0" marL="0">
              <a:buNone/>
            </a:pPr>
            <a:r>
              <a:rPr lang="en-US" sz="1400" dirty="0">
                <a:solidFill>
                  <a:srgbClr val="111111"/>
                </a:solidFill>
                <a:latin typeface="Arial" pitchFamily="34" charset="0"/>
                <a:ea typeface="Arial" pitchFamily="34" charset="-122"/>
                <a:cs typeface="Arial" pitchFamily="34" charset="-120"/>
              </a:rPr>
              <a:t>This phase focuses on the system and major moments of the website. It is not intended to redesign every page or every non-web touchpoint in parallel.</a:t>
            </a:r>
            <a:endParaRPr lang="en-US" sz="1400" dirty="0"/>
          </a:p>
        </p:txBody>
      </p:sp>
      <p:sp>
        <p:nvSpPr>
          <p:cNvPr id="28" name="Shape 26"/>
          <p:cNvSpPr/>
          <p:nvPr/>
        </p:nvSpPr>
        <p:spPr>
          <a:xfrm>
            <a:off x="6784848" y="3931920"/>
            <a:ext cx="4206240" cy="0"/>
          </a:xfrm>
          <a:prstGeom prst="line">
            <a:avLst/>
          </a:prstGeom>
          <a:noFill/>
          <a:ln w="12700">
            <a:solidFill>
              <a:srgbClr val="E3B8BF"/>
            </a:solidFill>
            <a:prstDash val="solid"/>
          </a:ln>
        </p:spPr>
      </p:sp>
      <p:sp>
        <p:nvSpPr>
          <p:cNvPr id="29" name="Text 27"/>
          <p:cNvSpPr/>
          <p:nvPr/>
        </p:nvSpPr>
        <p:spPr>
          <a:xfrm>
            <a:off x="6784848" y="4151376"/>
            <a:ext cx="4206240" cy="960120"/>
          </a:xfrm>
          <a:prstGeom prst="rect">
            <a:avLst/>
          </a:prstGeom>
          <a:noFill/>
          <a:ln/>
        </p:spPr>
        <p:txBody>
          <a:bodyPr wrap="square" lIns="0" tIns="0" rIns="0" bIns="0" rtlCol="0" anchor="t">
            <a:normAutofit/>
          </a:bodyPr>
          <a:lstStyle/>
          <a:p>
            <a:pPr indent="0" marL="0">
              <a:buNone/>
            </a:pPr>
            <a:r>
              <a:rPr lang="en-US" sz="1380" dirty="0">
                <a:solidFill>
                  <a:srgbClr val="111111"/>
                </a:solidFill>
                <a:latin typeface="Arial" pitchFamily="34" charset="0"/>
                <a:ea typeface="Arial" pitchFamily="34" charset="-122"/>
                <a:cs typeface="Arial" pitchFamily="34" charset="-120"/>
              </a:rPr>
              <a:t>That still constitutes real brand evolution. It is where expression, utility, and trust have to work together in the most visible way.</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2377440" cy="164592"/>
          </a:xfrm>
          <a:prstGeom prst="rect">
            <a:avLst/>
          </a:prstGeom>
          <a:noFill/>
          <a:ln/>
        </p:spPr>
        <p:txBody>
          <a:bodyPr wrap="square" lIns="0" tIns="0" rIns="0" bIns="0" rtlCol="0" anchor="ctr"/>
          <a:lstStyle/>
          <a:p>
            <a:pPr indent="0" marL="0">
              <a:buNone/>
            </a:pPr>
            <a:r>
              <a:rPr lang="en-US" sz="950" b="1" dirty="0">
                <a:solidFill>
                  <a:srgbClr val="D3031F"/>
                </a:solidFill>
                <a:latin typeface="Arial" pitchFamily="34" charset="0"/>
                <a:ea typeface="Arial" pitchFamily="34" charset="-122"/>
                <a:cs typeface="Arial" pitchFamily="34" charset="-120"/>
              </a:rPr>
              <a:t>WHY NOT OPEN A SEPARATE REBRAND STREAM NOW</a:t>
            </a:r>
            <a:endParaRPr lang="en-US" sz="950" dirty="0"/>
          </a:p>
        </p:txBody>
      </p:sp>
      <p:sp>
        <p:nvSpPr>
          <p:cNvPr id="3" name="Shape 1"/>
          <p:cNvSpPr/>
          <p:nvPr/>
        </p:nvSpPr>
        <p:spPr>
          <a:xfrm>
            <a:off x="658368" y="621792"/>
            <a:ext cx="10863072" cy="0"/>
          </a:xfrm>
          <a:prstGeom prst="line">
            <a:avLst/>
          </a:prstGeom>
          <a:noFill/>
          <a:ln w="15875">
            <a:solidFill>
              <a:srgbClr val="DADADA"/>
            </a:solidFill>
            <a:prstDash val="solid"/>
          </a:ln>
        </p:spPr>
      </p:sp>
      <p:sp>
        <p:nvSpPr>
          <p:cNvPr id="4" name="Text 2"/>
          <p:cNvSpPr/>
          <p:nvPr/>
        </p:nvSpPr>
        <p:spPr>
          <a:xfrm>
            <a:off x="658368" y="896112"/>
            <a:ext cx="8412480" cy="841248"/>
          </a:xfrm>
          <a:prstGeom prst="rect">
            <a:avLst/>
          </a:prstGeom>
          <a:noFill/>
          <a:ln/>
        </p:spPr>
        <p:txBody>
          <a:bodyPr wrap="square" lIns="0" tIns="0" rIns="0" bIns="0" rtlCol="0" anchor="t">
            <a:normAutofit/>
          </a:bodyPr>
          <a:lstStyle/>
          <a:p>
            <a:pPr indent="0" marL="0">
              <a:buNone/>
            </a:pPr>
            <a:r>
              <a:rPr lang="en-US" sz="2400" b="1" dirty="0">
                <a:solidFill>
                  <a:srgbClr val="111111"/>
                </a:solidFill>
                <a:latin typeface="Georgia" pitchFamily="34" charset="0"/>
                <a:ea typeface="Georgia" pitchFamily="34" charset="-122"/>
                <a:cs typeface="Georgia" pitchFamily="34" charset="-120"/>
              </a:rPr>
              <a:t>A parallel rebrand stream would create overlap before the foundation is proven.</a:t>
            </a:r>
            <a:endParaRPr lang="en-US" sz="2400" dirty="0"/>
          </a:p>
        </p:txBody>
      </p:sp>
      <p:sp>
        <p:nvSpPr>
          <p:cNvPr id="5" name="Shape 3"/>
          <p:cNvSpPr/>
          <p:nvPr/>
        </p:nvSpPr>
        <p:spPr>
          <a:xfrm>
            <a:off x="676656" y="2084832"/>
            <a:ext cx="402336" cy="493776"/>
          </a:xfrm>
          <a:prstGeom prst="roundRect">
            <a:avLst>
              <a:gd name="adj" fmla="val 18182"/>
            </a:avLst>
          </a:prstGeom>
          <a:solidFill>
            <a:srgbClr val="F8EDEE"/>
          </a:solidFill>
          <a:ln w="12700">
            <a:solidFill>
              <a:srgbClr val="F8EDEE"/>
            </a:solidFill>
            <a:prstDash val="solid"/>
          </a:ln>
        </p:spPr>
      </p:sp>
      <p:sp>
        <p:nvSpPr>
          <p:cNvPr id="6" name="Text 4"/>
          <p:cNvSpPr/>
          <p:nvPr/>
        </p:nvSpPr>
        <p:spPr>
          <a:xfrm>
            <a:off x="676656" y="2075688"/>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243584" y="2066544"/>
            <a:ext cx="9491472" cy="530352"/>
          </a:xfrm>
          <a:prstGeom prst="rect">
            <a:avLst/>
          </a:prstGeom>
          <a:noFill/>
          <a:ln/>
        </p:spPr>
        <p:txBody>
          <a:bodyPr wrap="square" lIns="0" tIns="0" rIns="0" bIns="0" rtlCol="0" anchor="ctr">
            <a:normAutofit/>
          </a:bodyPr>
          <a:lstStyle/>
          <a:p>
            <a:pPr indent="0" marL="0">
              <a:buNone/>
            </a:pPr>
            <a:r>
              <a:rPr lang="en-US" sz="1400" dirty="0">
                <a:solidFill>
                  <a:srgbClr val="111111"/>
                </a:solidFill>
                <a:latin typeface="Arial" pitchFamily="34" charset="0"/>
                <a:ea typeface="Arial" pitchFamily="34" charset="-122"/>
                <a:cs typeface="Arial" pitchFamily="34" charset="-120"/>
              </a:rPr>
              <a:t>The same expression decisions would be made twice.</a:t>
            </a:r>
            <a:endParaRPr lang="en-US" sz="1400" dirty="0"/>
          </a:p>
        </p:txBody>
      </p:sp>
      <p:sp>
        <p:nvSpPr>
          <p:cNvPr id="8" name="Shape 6"/>
          <p:cNvSpPr/>
          <p:nvPr/>
        </p:nvSpPr>
        <p:spPr>
          <a:xfrm>
            <a:off x="676656" y="2779776"/>
            <a:ext cx="402336" cy="493776"/>
          </a:xfrm>
          <a:prstGeom prst="roundRect">
            <a:avLst>
              <a:gd name="adj" fmla="val 18182"/>
            </a:avLst>
          </a:prstGeom>
          <a:solidFill>
            <a:srgbClr val="F8EDEE"/>
          </a:solidFill>
          <a:ln w="12700">
            <a:solidFill>
              <a:srgbClr val="F8EDEE"/>
            </a:solidFill>
            <a:prstDash val="solid"/>
          </a:ln>
        </p:spPr>
      </p:sp>
      <p:sp>
        <p:nvSpPr>
          <p:cNvPr id="9" name="Text 7"/>
          <p:cNvSpPr/>
          <p:nvPr/>
        </p:nvSpPr>
        <p:spPr>
          <a:xfrm>
            <a:off x="676656" y="2770632"/>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1243584" y="2761488"/>
            <a:ext cx="9491472" cy="530352"/>
          </a:xfrm>
          <a:prstGeom prst="rect">
            <a:avLst/>
          </a:prstGeom>
          <a:noFill/>
          <a:ln/>
        </p:spPr>
        <p:txBody>
          <a:bodyPr wrap="square" lIns="0" tIns="0" rIns="0" bIns="0" rtlCol="0" anchor="ctr">
            <a:normAutofit/>
          </a:bodyPr>
          <a:lstStyle/>
          <a:p>
            <a:pPr indent="0" marL="0">
              <a:buNone/>
            </a:pPr>
            <a:r>
              <a:rPr lang="en-US" sz="1400" dirty="0">
                <a:solidFill>
                  <a:srgbClr val="111111"/>
                </a:solidFill>
                <a:latin typeface="Arial" pitchFamily="34" charset="0"/>
                <a:ea typeface="Arial" pitchFamily="34" charset="-122"/>
                <a:cs typeface="Arial" pitchFamily="34" charset="-120"/>
              </a:rPr>
              <a:t>Ownership and approval paths would become less clear.</a:t>
            </a:r>
            <a:endParaRPr lang="en-US" sz="1400" dirty="0"/>
          </a:p>
        </p:txBody>
      </p:sp>
      <p:sp>
        <p:nvSpPr>
          <p:cNvPr id="11" name="Shape 9"/>
          <p:cNvSpPr/>
          <p:nvPr/>
        </p:nvSpPr>
        <p:spPr>
          <a:xfrm>
            <a:off x="676656" y="3474720"/>
            <a:ext cx="402336" cy="493776"/>
          </a:xfrm>
          <a:prstGeom prst="roundRect">
            <a:avLst>
              <a:gd name="adj" fmla="val 18182"/>
            </a:avLst>
          </a:prstGeom>
          <a:solidFill>
            <a:srgbClr val="F8EDEE"/>
          </a:solidFill>
          <a:ln w="12700">
            <a:solidFill>
              <a:srgbClr val="F8EDEE"/>
            </a:solidFill>
            <a:prstDash val="solid"/>
          </a:ln>
        </p:spPr>
      </p:sp>
      <p:sp>
        <p:nvSpPr>
          <p:cNvPr id="12" name="Text 10"/>
          <p:cNvSpPr/>
          <p:nvPr/>
        </p:nvSpPr>
        <p:spPr>
          <a:xfrm>
            <a:off x="676656" y="3465576"/>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3</a:t>
            </a:r>
            <a:endParaRPr lang="en-US" sz="1200" dirty="0"/>
          </a:p>
        </p:txBody>
      </p:sp>
      <p:sp>
        <p:nvSpPr>
          <p:cNvPr id="13" name="Text 11"/>
          <p:cNvSpPr/>
          <p:nvPr/>
        </p:nvSpPr>
        <p:spPr>
          <a:xfrm>
            <a:off x="1243584" y="3456432"/>
            <a:ext cx="9491472" cy="530352"/>
          </a:xfrm>
          <a:prstGeom prst="rect">
            <a:avLst/>
          </a:prstGeom>
          <a:noFill/>
          <a:ln/>
        </p:spPr>
        <p:txBody>
          <a:bodyPr wrap="square" lIns="0" tIns="0" rIns="0" bIns="0" rtlCol="0" anchor="ctr">
            <a:normAutofit/>
          </a:bodyPr>
          <a:lstStyle/>
          <a:p>
            <a:pPr indent="0" marL="0">
              <a:buNone/>
            </a:pPr>
            <a:r>
              <a:rPr lang="en-US" sz="1400" dirty="0">
                <a:solidFill>
                  <a:srgbClr val="111111"/>
                </a:solidFill>
                <a:latin typeface="Arial" pitchFamily="34" charset="0"/>
                <a:ea typeface="Arial" pitchFamily="34" charset="-122"/>
                <a:cs typeface="Arial" pitchFamily="34" charset="-120"/>
              </a:rPr>
              <a:t>Brand choices could outpace the digital system before it is resolved.</a:t>
            </a:r>
            <a:endParaRPr lang="en-US" sz="1400" dirty="0"/>
          </a:p>
        </p:txBody>
      </p:sp>
      <p:sp>
        <p:nvSpPr>
          <p:cNvPr id="14" name="Shape 12"/>
          <p:cNvSpPr/>
          <p:nvPr/>
        </p:nvSpPr>
        <p:spPr>
          <a:xfrm>
            <a:off x="676656" y="4169664"/>
            <a:ext cx="402336" cy="493776"/>
          </a:xfrm>
          <a:prstGeom prst="roundRect">
            <a:avLst>
              <a:gd name="adj" fmla="val 18182"/>
            </a:avLst>
          </a:prstGeom>
          <a:solidFill>
            <a:srgbClr val="F8EDEE"/>
          </a:solidFill>
          <a:ln w="12700">
            <a:solidFill>
              <a:srgbClr val="F8EDEE"/>
            </a:solidFill>
            <a:prstDash val="solid"/>
          </a:ln>
        </p:spPr>
      </p:sp>
      <p:sp>
        <p:nvSpPr>
          <p:cNvPr id="15" name="Text 13"/>
          <p:cNvSpPr/>
          <p:nvPr/>
        </p:nvSpPr>
        <p:spPr>
          <a:xfrm>
            <a:off x="676656" y="4160520"/>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4</a:t>
            </a:r>
            <a:endParaRPr lang="en-US" sz="1200" dirty="0"/>
          </a:p>
        </p:txBody>
      </p:sp>
      <p:sp>
        <p:nvSpPr>
          <p:cNvPr id="16" name="Text 14"/>
          <p:cNvSpPr/>
          <p:nvPr/>
        </p:nvSpPr>
        <p:spPr>
          <a:xfrm>
            <a:off x="1243584" y="4151376"/>
            <a:ext cx="9491472" cy="530352"/>
          </a:xfrm>
          <a:prstGeom prst="rect">
            <a:avLst/>
          </a:prstGeom>
          <a:noFill/>
          <a:ln/>
        </p:spPr>
        <p:txBody>
          <a:bodyPr wrap="square" lIns="0" tIns="0" rIns="0" bIns="0" rtlCol="0" anchor="ctr">
            <a:normAutofit/>
          </a:bodyPr>
          <a:lstStyle/>
          <a:p>
            <a:pPr indent="0" marL="0">
              <a:buNone/>
            </a:pPr>
            <a:r>
              <a:rPr lang="en-US" sz="1400" dirty="0">
                <a:solidFill>
                  <a:srgbClr val="111111"/>
                </a:solidFill>
                <a:latin typeface="Arial" pitchFamily="34" charset="0"/>
                <a:ea typeface="Arial" pitchFamily="34" charset="-122"/>
                <a:cs typeface="Arial" pitchFamily="34" charset="-120"/>
              </a:rPr>
              <a:t>Additional coordination would slow the current website rollout.</a:t>
            </a:r>
            <a:endParaRPr lang="en-US" sz="1400" dirty="0"/>
          </a:p>
        </p:txBody>
      </p:sp>
      <p:sp>
        <p:nvSpPr>
          <p:cNvPr id="17" name="Shape 15"/>
          <p:cNvSpPr/>
          <p:nvPr/>
        </p:nvSpPr>
        <p:spPr>
          <a:xfrm>
            <a:off x="676656" y="4864608"/>
            <a:ext cx="402336" cy="493776"/>
          </a:xfrm>
          <a:prstGeom prst="roundRect">
            <a:avLst>
              <a:gd name="adj" fmla="val 18182"/>
            </a:avLst>
          </a:prstGeom>
          <a:solidFill>
            <a:srgbClr val="F8EDEE"/>
          </a:solidFill>
          <a:ln w="12700">
            <a:solidFill>
              <a:srgbClr val="F8EDEE"/>
            </a:solidFill>
            <a:prstDash val="solid"/>
          </a:ln>
        </p:spPr>
      </p:sp>
      <p:sp>
        <p:nvSpPr>
          <p:cNvPr id="18" name="Text 16"/>
          <p:cNvSpPr/>
          <p:nvPr/>
        </p:nvSpPr>
        <p:spPr>
          <a:xfrm>
            <a:off x="676656" y="4855464"/>
            <a:ext cx="402336" cy="512064"/>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5</a:t>
            </a:r>
            <a:endParaRPr lang="en-US" sz="1200" dirty="0"/>
          </a:p>
        </p:txBody>
      </p:sp>
      <p:sp>
        <p:nvSpPr>
          <p:cNvPr id="19" name="Text 17"/>
          <p:cNvSpPr/>
          <p:nvPr/>
        </p:nvSpPr>
        <p:spPr>
          <a:xfrm>
            <a:off x="1243584" y="4846320"/>
            <a:ext cx="9491472" cy="530352"/>
          </a:xfrm>
          <a:prstGeom prst="rect">
            <a:avLst/>
          </a:prstGeom>
          <a:noFill/>
          <a:ln/>
        </p:spPr>
        <p:txBody>
          <a:bodyPr wrap="square" lIns="0" tIns="0" rIns="0" bIns="0" rtlCol="0" anchor="ctr">
            <a:normAutofit/>
          </a:bodyPr>
          <a:lstStyle/>
          <a:p>
            <a:pPr indent="0" marL="0">
              <a:buNone/>
            </a:pPr>
            <a:r>
              <a:rPr lang="en-US" sz="1400" dirty="0">
                <a:solidFill>
                  <a:srgbClr val="111111"/>
                </a:solidFill>
                <a:latin typeface="Arial" pitchFamily="34" charset="0"/>
                <a:ea typeface="Arial" pitchFamily="34" charset="-122"/>
                <a:cs typeface="Arial" pitchFamily="34" charset="-120"/>
              </a:rPr>
              <a:t>Early outputs would be harder to keep coherent across teams.</a:t>
            </a:r>
            <a:endParaRPr lang="en-US" sz="1400" dirty="0"/>
          </a:p>
        </p:txBody>
      </p:sp>
      <p:sp>
        <p:nvSpPr>
          <p:cNvPr id="20" name="Shape 18"/>
          <p:cNvSpPr/>
          <p:nvPr/>
        </p:nvSpPr>
        <p:spPr>
          <a:xfrm>
            <a:off x="658368" y="6053328"/>
            <a:ext cx="10863072" cy="438912"/>
          </a:xfrm>
          <a:prstGeom prst="roundRect">
            <a:avLst>
              <a:gd name="adj" fmla="val 16667"/>
            </a:avLst>
          </a:prstGeom>
          <a:solidFill>
            <a:srgbClr val="F8EDEE"/>
          </a:solidFill>
          <a:ln w="12700">
            <a:solidFill>
              <a:srgbClr val="F8EDEE"/>
            </a:solidFill>
            <a:prstDash val="solid"/>
          </a:ln>
        </p:spPr>
      </p:sp>
      <p:sp>
        <p:nvSpPr>
          <p:cNvPr id="21" name="Text 19"/>
          <p:cNvSpPr/>
          <p:nvPr/>
        </p:nvSpPr>
        <p:spPr>
          <a:xfrm>
            <a:off x="859536" y="6181344"/>
            <a:ext cx="10460736" cy="164592"/>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Arial" pitchFamily="34" charset="0"/>
                <a:ea typeface="Arial" pitchFamily="34" charset="-122"/>
                <a:cs typeface="Arial" pitchFamily="34" charset="-120"/>
              </a:rPr>
              <a:t>The issue is timing and sequencing, not whether brand matters. The goal is to protect quality and coherence.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2377440" cy="164592"/>
          </a:xfrm>
          <a:prstGeom prst="rect">
            <a:avLst/>
          </a:prstGeom>
          <a:noFill/>
          <a:ln/>
        </p:spPr>
        <p:txBody>
          <a:bodyPr wrap="square" lIns="0" tIns="0" rIns="0" bIns="0" rtlCol="0" anchor="ctr"/>
          <a:lstStyle/>
          <a:p>
            <a:pPr indent="0" marL="0">
              <a:buNone/>
            </a:pPr>
            <a:r>
              <a:rPr lang="en-US" sz="950" b="1" dirty="0">
                <a:solidFill>
                  <a:srgbClr val="D3031F"/>
                </a:solidFill>
                <a:latin typeface="Arial" pitchFamily="34" charset="0"/>
                <a:ea typeface="Arial" pitchFamily="34" charset="-122"/>
                <a:cs typeface="Arial" pitchFamily="34" charset="-120"/>
              </a:rPr>
              <a:t>WHAT WE RECOMMEND INSTEAD</a:t>
            </a:r>
            <a:endParaRPr lang="en-US" sz="950" dirty="0"/>
          </a:p>
        </p:txBody>
      </p:sp>
      <p:sp>
        <p:nvSpPr>
          <p:cNvPr id="3" name="Shape 1"/>
          <p:cNvSpPr/>
          <p:nvPr/>
        </p:nvSpPr>
        <p:spPr>
          <a:xfrm>
            <a:off x="658368" y="621792"/>
            <a:ext cx="10863072" cy="0"/>
          </a:xfrm>
          <a:prstGeom prst="line">
            <a:avLst/>
          </a:prstGeom>
          <a:noFill/>
          <a:ln w="15875">
            <a:solidFill>
              <a:srgbClr val="DADADA"/>
            </a:solidFill>
            <a:prstDash val="solid"/>
          </a:ln>
        </p:spPr>
      </p:sp>
      <p:sp>
        <p:nvSpPr>
          <p:cNvPr id="4" name="Text 2"/>
          <p:cNvSpPr/>
          <p:nvPr/>
        </p:nvSpPr>
        <p:spPr>
          <a:xfrm>
            <a:off x="658368" y="896112"/>
            <a:ext cx="7955280" cy="914400"/>
          </a:xfrm>
          <a:prstGeom prst="rect">
            <a:avLst/>
          </a:prstGeom>
          <a:noFill/>
          <a:ln/>
        </p:spPr>
        <p:txBody>
          <a:bodyPr wrap="square" lIns="0" tIns="0" rIns="0" bIns="0" rtlCol="0" anchor="t">
            <a:normAutofit/>
          </a:bodyPr>
          <a:lstStyle/>
          <a:p>
            <a:pPr indent="0" marL="0">
              <a:buNone/>
            </a:pPr>
            <a:r>
              <a:rPr lang="en-US" sz="2400" b="1" dirty="0">
                <a:solidFill>
                  <a:srgbClr val="111111"/>
                </a:solidFill>
                <a:latin typeface="Georgia" pitchFamily="34" charset="0"/>
                <a:ea typeface="Georgia" pitchFamily="34" charset="-122"/>
                <a:cs typeface="Georgia" pitchFamily="34" charset="-120"/>
              </a:rPr>
              <a:t>Use the website as Phase 1, then scale those principles outward.</a:t>
            </a:r>
            <a:endParaRPr lang="en-US" sz="2400" dirty="0"/>
          </a:p>
        </p:txBody>
      </p:sp>
      <p:sp>
        <p:nvSpPr>
          <p:cNvPr id="5" name="Shape 3"/>
          <p:cNvSpPr/>
          <p:nvPr/>
        </p:nvSpPr>
        <p:spPr>
          <a:xfrm>
            <a:off x="676656" y="1828800"/>
            <a:ext cx="4736592" cy="3200400"/>
          </a:xfrm>
          <a:prstGeom prst="roundRect">
            <a:avLst>
              <a:gd name="adj" fmla="val 2286"/>
            </a:avLst>
          </a:prstGeom>
          <a:solidFill>
            <a:srgbClr val="F5F5F5"/>
          </a:solidFill>
          <a:ln w="12700">
            <a:solidFill>
              <a:srgbClr val="DADADA"/>
            </a:solidFill>
            <a:prstDash val="solid"/>
          </a:ln>
        </p:spPr>
      </p:sp>
      <p:sp>
        <p:nvSpPr>
          <p:cNvPr id="6" name="Shape 4"/>
          <p:cNvSpPr/>
          <p:nvPr/>
        </p:nvSpPr>
        <p:spPr>
          <a:xfrm>
            <a:off x="676656" y="1828800"/>
            <a:ext cx="4736592" cy="0"/>
          </a:xfrm>
          <a:prstGeom prst="line">
            <a:avLst/>
          </a:prstGeom>
          <a:noFill/>
          <a:ln w="31750">
            <a:solidFill>
              <a:srgbClr val="D3031F"/>
            </a:solidFill>
            <a:prstDash val="solid"/>
          </a:ln>
        </p:spPr>
      </p:sp>
      <p:sp>
        <p:nvSpPr>
          <p:cNvPr id="7" name="Text 5"/>
          <p:cNvSpPr/>
          <p:nvPr/>
        </p:nvSpPr>
        <p:spPr>
          <a:xfrm>
            <a:off x="932688" y="2103120"/>
            <a:ext cx="822960" cy="182880"/>
          </a:xfrm>
          <a:prstGeom prst="rect">
            <a:avLst/>
          </a:prstGeom>
          <a:noFill/>
          <a:ln/>
        </p:spPr>
        <p:txBody>
          <a:bodyPr wrap="square" lIns="0" tIns="0" rIns="0" bIns="0" rtlCol="0" anchor="ctr"/>
          <a:lstStyle/>
          <a:p>
            <a:pPr indent="0" marL="0">
              <a:buNone/>
            </a:pPr>
            <a:r>
              <a:rPr lang="en-US" sz="1000" b="1" dirty="0">
                <a:solidFill>
                  <a:srgbClr val="D3031F"/>
                </a:solidFill>
                <a:latin typeface="Arial" pitchFamily="34" charset="0"/>
                <a:ea typeface="Arial" pitchFamily="34" charset="-122"/>
                <a:cs typeface="Arial" pitchFamily="34" charset="-120"/>
              </a:rPr>
              <a:t>PHASE 1</a:t>
            </a:r>
            <a:endParaRPr lang="en-US" sz="1000" dirty="0"/>
          </a:p>
        </p:txBody>
      </p:sp>
      <p:sp>
        <p:nvSpPr>
          <p:cNvPr id="8" name="Text 6"/>
          <p:cNvSpPr/>
          <p:nvPr/>
        </p:nvSpPr>
        <p:spPr>
          <a:xfrm>
            <a:off x="914400" y="2359152"/>
            <a:ext cx="2926080" cy="438912"/>
          </a:xfrm>
          <a:prstGeom prst="rect">
            <a:avLst/>
          </a:prstGeom>
          <a:noFill/>
          <a:ln/>
        </p:spPr>
        <p:txBody>
          <a:bodyPr wrap="square" lIns="0" tIns="0" rIns="0" bIns="0" rtlCol="0" anchor="t">
            <a:normAutofit/>
          </a:bodyPr>
          <a:lstStyle/>
          <a:p>
            <a:pPr indent="0" marL="0">
              <a:buNone/>
            </a:pPr>
            <a:r>
              <a:rPr lang="en-US" sz="2100" b="1" dirty="0">
                <a:solidFill>
                  <a:srgbClr val="111111"/>
                </a:solidFill>
                <a:latin typeface="Georgia" pitchFamily="34" charset="0"/>
                <a:ea typeface="Georgia" pitchFamily="34" charset="-122"/>
                <a:cs typeface="Georgia" pitchFamily="34" charset="-120"/>
              </a:rPr>
              <a:t>Website refresh</a:t>
            </a:r>
            <a:endParaRPr lang="en-US" sz="2100" dirty="0"/>
          </a:p>
        </p:txBody>
      </p:sp>
      <p:sp>
        <p:nvSpPr>
          <p:cNvPr id="9" name="Text 7"/>
          <p:cNvSpPr/>
          <p:nvPr/>
        </p:nvSpPr>
        <p:spPr>
          <a:xfrm>
            <a:off x="932688" y="2834640"/>
            <a:ext cx="3913632" cy="713232"/>
          </a:xfrm>
          <a:prstGeom prst="rect">
            <a:avLst/>
          </a:prstGeom>
          <a:noFill/>
          <a:ln/>
        </p:spPr>
        <p:txBody>
          <a:bodyPr wrap="square" lIns="0" tIns="0" rIns="0" bIns="0" rtlCol="0" anchor="t">
            <a:normAutofit/>
          </a:bodyPr>
          <a:lstStyle/>
          <a:p>
            <a:pPr indent="0" marL="0">
              <a:buNone/>
            </a:pPr>
            <a:r>
              <a:rPr lang="en-US" sz="1360" dirty="0">
                <a:solidFill>
                  <a:srgbClr val="111111"/>
                </a:solidFill>
                <a:latin typeface="Arial" pitchFamily="34" charset="0"/>
                <a:ea typeface="Arial" pitchFamily="34" charset="-122"/>
                <a:cs typeface="Arial" pitchFamily="34" charset="-120"/>
              </a:rPr>
              <a:t>Establish and prove the digital brand foundation through the website system and major touchpoints.</a:t>
            </a:r>
            <a:endParaRPr lang="en-US" sz="1360" dirty="0"/>
          </a:p>
        </p:txBody>
      </p:sp>
      <p:sp>
        <p:nvSpPr>
          <p:cNvPr id="10" name="Shape 8"/>
          <p:cNvSpPr/>
          <p:nvPr/>
        </p:nvSpPr>
        <p:spPr>
          <a:xfrm>
            <a:off x="932688" y="3675888"/>
            <a:ext cx="402336" cy="365760"/>
          </a:xfrm>
          <a:prstGeom prst="roundRect">
            <a:avLst>
              <a:gd name="adj" fmla="val 20000"/>
            </a:avLst>
          </a:prstGeom>
          <a:solidFill>
            <a:srgbClr val="F8EDEE"/>
          </a:solidFill>
          <a:ln w="12700">
            <a:solidFill>
              <a:srgbClr val="F8EDEE"/>
            </a:solidFill>
            <a:prstDash val="solid"/>
          </a:ln>
        </p:spPr>
      </p:sp>
      <p:sp>
        <p:nvSpPr>
          <p:cNvPr id="11" name="Text 9"/>
          <p:cNvSpPr/>
          <p:nvPr/>
        </p:nvSpPr>
        <p:spPr>
          <a:xfrm>
            <a:off x="932688" y="3666744"/>
            <a:ext cx="402336" cy="384048"/>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1</a:t>
            </a:r>
            <a:endParaRPr lang="en-US" sz="1200" dirty="0"/>
          </a:p>
        </p:txBody>
      </p:sp>
      <p:sp>
        <p:nvSpPr>
          <p:cNvPr id="12" name="Text 10"/>
          <p:cNvSpPr/>
          <p:nvPr/>
        </p:nvSpPr>
        <p:spPr>
          <a:xfrm>
            <a:off x="1499616" y="3657600"/>
            <a:ext cx="2999232" cy="402336"/>
          </a:xfrm>
          <a:prstGeom prst="rect">
            <a:avLst/>
          </a:prstGeom>
          <a:noFill/>
          <a:ln/>
        </p:spPr>
        <p:txBody>
          <a:bodyPr wrap="square" lIns="0" tIns="0" rIns="0" bIns="0" rtlCol="0" anchor="ctr">
            <a:normAutofit/>
          </a:bodyPr>
          <a:lstStyle/>
          <a:p>
            <a:pPr indent="0" marL="0">
              <a:buNone/>
            </a:pPr>
            <a:r>
              <a:rPr lang="en-US" sz="1250" dirty="0">
                <a:solidFill>
                  <a:srgbClr val="111111"/>
                </a:solidFill>
                <a:latin typeface="Arial" pitchFamily="34" charset="0"/>
                <a:ea typeface="Arial" pitchFamily="34" charset="-122"/>
                <a:cs typeface="Arial" pitchFamily="34" charset="-120"/>
              </a:rPr>
              <a:t>Visual expression</a:t>
            </a:r>
            <a:endParaRPr lang="en-US" sz="1250" dirty="0"/>
          </a:p>
        </p:txBody>
      </p:sp>
      <p:sp>
        <p:nvSpPr>
          <p:cNvPr id="13" name="Shape 11"/>
          <p:cNvSpPr/>
          <p:nvPr/>
        </p:nvSpPr>
        <p:spPr>
          <a:xfrm>
            <a:off x="932688" y="4114800"/>
            <a:ext cx="402336" cy="365760"/>
          </a:xfrm>
          <a:prstGeom prst="roundRect">
            <a:avLst>
              <a:gd name="adj" fmla="val 20000"/>
            </a:avLst>
          </a:prstGeom>
          <a:solidFill>
            <a:srgbClr val="F8EDEE"/>
          </a:solidFill>
          <a:ln w="12700">
            <a:solidFill>
              <a:srgbClr val="F8EDEE"/>
            </a:solidFill>
            <a:prstDash val="solid"/>
          </a:ln>
        </p:spPr>
      </p:sp>
      <p:sp>
        <p:nvSpPr>
          <p:cNvPr id="14" name="Text 12"/>
          <p:cNvSpPr/>
          <p:nvPr/>
        </p:nvSpPr>
        <p:spPr>
          <a:xfrm>
            <a:off x="932688" y="4105656"/>
            <a:ext cx="402336" cy="384048"/>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1499616" y="4096512"/>
            <a:ext cx="2999232" cy="402336"/>
          </a:xfrm>
          <a:prstGeom prst="rect">
            <a:avLst/>
          </a:prstGeom>
          <a:noFill/>
          <a:ln/>
        </p:spPr>
        <p:txBody>
          <a:bodyPr wrap="square" lIns="0" tIns="0" rIns="0" bIns="0" rtlCol="0" anchor="ctr">
            <a:normAutofit/>
          </a:bodyPr>
          <a:lstStyle/>
          <a:p>
            <a:pPr indent="0" marL="0">
              <a:buNone/>
            </a:pPr>
            <a:r>
              <a:rPr lang="en-US" sz="1250" dirty="0">
                <a:solidFill>
                  <a:srgbClr val="111111"/>
                </a:solidFill>
                <a:latin typeface="Arial" pitchFamily="34" charset="0"/>
                <a:ea typeface="Arial" pitchFamily="34" charset="-122"/>
                <a:cs typeface="Arial" pitchFamily="34" charset="-120"/>
              </a:rPr>
              <a:t>Trust, navigation, and content clarity</a:t>
            </a:r>
            <a:endParaRPr lang="en-US" sz="1250" dirty="0"/>
          </a:p>
        </p:txBody>
      </p:sp>
      <p:sp>
        <p:nvSpPr>
          <p:cNvPr id="16" name="Shape 14"/>
          <p:cNvSpPr/>
          <p:nvPr/>
        </p:nvSpPr>
        <p:spPr>
          <a:xfrm>
            <a:off x="932688" y="4553712"/>
            <a:ext cx="402336" cy="365760"/>
          </a:xfrm>
          <a:prstGeom prst="roundRect">
            <a:avLst>
              <a:gd name="adj" fmla="val 20000"/>
            </a:avLst>
          </a:prstGeom>
          <a:solidFill>
            <a:srgbClr val="F8EDEE"/>
          </a:solidFill>
          <a:ln w="12700">
            <a:solidFill>
              <a:srgbClr val="F8EDEE"/>
            </a:solidFill>
            <a:prstDash val="solid"/>
          </a:ln>
        </p:spPr>
      </p:sp>
      <p:sp>
        <p:nvSpPr>
          <p:cNvPr id="17" name="Text 15"/>
          <p:cNvSpPr/>
          <p:nvPr/>
        </p:nvSpPr>
        <p:spPr>
          <a:xfrm>
            <a:off x="932688" y="4544568"/>
            <a:ext cx="402336" cy="384048"/>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3</a:t>
            </a:r>
            <a:endParaRPr lang="en-US" sz="1200" dirty="0"/>
          </a:p>
        </p:txBody>
      </p:sp>
      <p:sp>
        <p:nvSpPr>
          <p:cNvPr id="18" name="Text 16"/>
          <p:cNvSpPr/>
          <p:nvPr/>
        </p:nvSpPr>
        <p:spPr>
          <a:xfrm>
            <a:off x="1499616" y="4535424"/>
            <a:ext cx="2999232" cy="402336"/>
          </a:xfrm>
          <a:prstGeom prst="rect">
            <a:avLst/>
          </a:prstGeom>
          <a:noFill/>
          <a:ln/>
        </p:spPr>
        <p:txBody>
          <a:bodyPr wrap="square" lIns="0" tIns="0" rIns="0" bIns="0" rtlCol="0" anchor="ctr">
            <a:normAutofit/>
          </a:bodyPr>
          <a:lstStyle/>
          <a:p>
            <a:pPr indent="0" marL="0">
              <a:buNone/>
            </a:pPr>
            <a:r>
              <a:rPr lang="en-US" sz="1250" dirty="0">
                <a:solidFill>
                  <a:srgbClr val="111111"/>
                </a:solidFill>
                <a:latin typeface="Arial" pitchFamily="34" charset="0"/>
                <a:ea typeface="Arial" pitchFamily="34" charset="-122"/>
                <a:cs typeface="Arial" pitchFamily="34" charset="-120"/>
              </a:rPr>
              <a:t>Component and motion behavior</a:t>
            </a:r>
            <a:endParaRPr lang="en-US" sz="1250" dirty="0"/>
          </a:p>
        </p:txBody>
      </p:sp>
      <p:sp>
        <p:nvSpPr>
          <p:cNvPr id="19" name="Shape 17"/>
          <p:cNvSpPr/>
          <p:nvPr/>
        </p:nvSpPr>
        <p:spPr>
          <a:xfrm>
            <a:off x="5650992" y="2944368"/>
            <a:ext cx="566928" cy="457200"/>
          </a:xfrm>
          <a:prstGeom prst="chevron">
            <a:avLst/>
          </a:prstGeom>
          <a:solidFill>
            <a:srgbClr val="D3031F"/>
          </a:solidFill>
          <a:ln w="12700">
            <a:solidFill>
              <a:srgbClr val="D3031F"/>
            </a:solidFill>
            <a:prstDash val="solid"/>
          </a:ln>
        </p:spPr>
      </p:sp>
      <p:sp>
        <p:nvSpPr>
          <p:cNvPr id="20" name="Shape 18"/>
          <p:cNvSpPr/>
          <p:nvPr/>
        </p:nvSpPr>
        <p:spPr>
          <a:xfrm>
            <a:off x="6400800" y="1828800"/>
            <a:ext cx="5102352" cy="3200400"/>
          </a:xfrm>
          <a:prstGeom prst="roundRect">
            <a:avLst>
              <a:gd name="adj" fmla="val 2286"/>
            </a:avLst>
          </a:prstGeom>
          <a:solidFill>
            <a:srgbClr val="F8EDEE"/>
          </a:solidFill>
          <a:ln w="12700">
            <a:solidFill>
              <a:srgbClr val="F8EDEE"/>
            </a:solidFill>
            <a:prstDash val="solid"/>
          </a:ln>
        </p:spPr>
      </p:sp>
      <p:sp>
        <p:nvSpPr>
          <p:cNvPr id="21" name="Shape 19"/>
          <p:cNvSpPr/>
          <p:nvPr/>
        </p:nvSpPr>
        <p:spPr>
          <a:xfrm>
            <a:off x="6400800" y="1828800"/>
            <a:ext cx="5102352" cy="0"/>
          </a:xfrm>
          <a:prstGeom prst="line">
            <a:avLst/>
          </a:prstGeom>
          <a:noFill/>
          <a:ln w="31750">
            <a:solidFill>
              <a:srgbClr val="D3031F"/>
            </a:solidFill>
            <a:prstDash val="solid"/>
          </a:ln>
        </p:spPr>
      </p:sp>
      <p:sp>
        <p:nvSpPr>
          <p:cNvPr id="22" name="Text 20"/>
          <p:cNvSpPr/>
          <p:nvPr/>
        </p:nvSpPr>
        <p:spPr>
          <a:xfrm>
            <a:off x="6656832" y="2103120"/>
            <a:ext cx="822960" cy="182880"/>
          </a:xfrm>
          <a:prstGeom prst="rect">
            <a:avLst/>
          </a:prstGeom>
          <a:noFill/>
          <a:ln/>
        </p:spPr>
        <p:txBody>
          <a:bodyPr wrap="square" lIns="0" tIns="0" rIns="0" bIns="0" rtlCol="0" anchor="ctr"/>
          <a:lstStyle/>
          <a:p>
            <a:pPr indent="0" marL="0">
              <a:buNone/>
            </a:pPr>
            <a:r>
              <a:rPr lang="en-US" sz="1000" b="1" dirty="0">
                <a:solidFill>
                  <a:srgbClr val="D3031F"/>
                </a:solidFill>
                <a:latin typeface="Arial" pitchFamily="34" charset="0"/>
                <a:ea typeface="Arial" pitchFamily="34" charset="-122"/>
                <a:cs typeface="Arial" pitchFamily="34" charset="-120"/>
              </a:rPr>
              <a:t>PHASE 2</a:t>
            </a:r>
            <a:endParaRPr lang="en-US" sz="1000" dirty="0"/>
          </a:p>
        </p:txBody>
      </p:sp>
      <p:sp>
        <p:nvSpPr>
          <p:cNvPr id="23" name="Text 21"/>
          <p:cNvSpPr/>
          <p:nvPr/>
        </p:nvSpPr>
        <p:spPr>
          <a:xfrm>
            <a:off x="6638544" y="2359152"/>
            <a:ext cx="3931920" cy="438912"/>
          </a:xfrm>
          <a:prstGeom prst="rect">
            <a:avLst/>
          </a:prstGeom>
          <a:noFill/>
          <a:ln/>
        </p:spPr>
        <p:txBody>
          <a:bodyPr wrap="square" lIns="0" tIns="0" rIns="0" bIns="0" rtlCol="0" anchor="t">
            <a:normAutofit/>
          </a:bodyPr>
          <a:lstStyle/>
          <a:p>
            <a:pPr indent="0" marL="0">
              <a:buNone/>
            </a:pPr>
            <a:r>
              <a:rPr lang="en-US" sz="2100" b="1" dirty="0">
                <a:solidFill>
                  <a:srgbClr val="111111"/>
                </a:solidFill>
                <a:latin typeface="Georgia" pitchFamily="34" charset="0"/>
                <a:ea typeface="Georgia" pitchFamily="34" charset="-122"/>
                <a:cs typeface="Georgia" pitchFamily="34" charset="-120"/>
              </a:rPr>
              <a:t>Brand expansion follow-on</a:t>
            </a:r>
            <a:endParaRPr lang="en-US" sz="2100" dirty="0"/>
          </a:p>
        </p:txBody>
      </p:sp>
      <p:sp>
        <p:nvSpPr>
          <p:cNvPr id="24" name="Text 22"/>
          <p:cNvSpPr/>
          <p:nvPr/>
        </p:nvSpPr>
        <p:spPr>
          <a:xfrm>
            <a:off x="6656832" y="2834640"/>
            <a:ext cx="4224528" cy="713232"/>
          </a:xfrm>
          <a:prstGeom prst="rect">
            <a:avLst/>
          </a:prstGeom>
          <a:noFill/>
          <a:ln/>
        </p:spPr>
        <p:txBody>
          <a:bodyPr wrap="square" lIns="0" tIns="0" rIns="0" bIns="0" rtlCol="0" anchor="t">
            <a:normAutofit/>
          </a:bodyPr>
          <a:lstStyle/>
          <a:p>
            <a:pPr indent="0" marL="0">
              <a:buNone/>
            </a:pPr>
            <a:r>
              <a:rPr lang="en-US" sz="1360" dirty="0">
                <a:solidFill>
                  <a:srgbClr val="111111"/>
                </a:solidFill>
                <a:latin typeface="Arial" pitchFamily="34" charset="0"/>
                <a:ea typeface="Arial" pitchFamily="34" charset="-122"/>
                <a:cs typeface="Arial" pitchFamily="34" charset="-120"/>
              </a:rPr>
              <a:t>Extend the proven principles into other touchpoints once the web foundation is real and tested.</a:t>
            </a:r>
            <a:endParaRPr lang="en-US" sz="1360" dirty="0"/>
          </a:p>
        </p:txBody>
      </p:sp>
      <p:sp>
        <p:nvSpPr>
          <p:cNvPr id="25" name="Shape 23"/>
          <p:cNvSpPr/>
          <p:nvPr/>
        </p:nvSpPr>
        <p:spPr>
          <a:xfrm>
            <a:off x="6656832" y="3675888"/>
            <a:ext cx="402336" cy="365760"/>
          </a:xfrm>
          <a:prstGeom prst="roundRect">
            <a:avLst>
              <a:gd name="adj" fmla="val 20000"/>
            </a:avLst>
          </a:prstGeom>
          <a:solidFill>
            <a:srgbClr val="F8EDEE"/>
          </a:solidFill>
          <a:ln w="12700">
            <a:solidFill>
              <a:srgbClr val="F8EDEE"/>
            </a:solidFill>
            <a:prstDash val="solid"/>
          </a:ln>
        </p:spPr>
      </p:sp>
      <p:sp>
        <p:nvSpPr>
          <p:cNvPr id="26" name="Text 24"/>
          <p:cNvSpPr/>
          <p:nvPr/>
        </p:nvSpPr>
        <p:spPr>
          <a:xfrm>
            <a:off x="6656832" y="3666744"/>
            <a:ext cx="402336" cy="384048"/>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1</a:t>
            </a:r>
            <a:endParaRPr lang="en-US" sz="1200" dirty="0"/>
          </a:p>
        </p:txBody>
      </p:sp>
      <p:sp>
        <p:nvSpPr>
          <p:cNvPr id="27" name="Text 25"/>
          <p:cNvSpPr/>
          <p:nvPr/>
        </p:nvSpPr>
        <p:spPr>
          <a:xfrm>
            <a:off x="7223760" y="3657600"/>
            <a:ext cx="3273552" cy="402336"/>
          </a:xfrm>
          <a:prstGeom prst="rect">
            <a:avLst/>
          </a:prstGeom>
          <a:noFill/>
          <a:ln/>
        </p:spPr>
        <p:txBody>
          <a:bodyPr wrap="square" lIns="0" tIns="0" rIns="0" bIns="0" rtlCol="0" anchor="ctr">
            <a:normAutofit/>
          </a:bodyPr>
          <a:lstStyle/>
          <a:p>
            <a:pPr indent="0" marL="0">
              <a:buNone/>
            </a:pPr>
            <a:r>
              <a:rPr lang="en-US" sz="1250" dirty="0">
                <a:solidFill>
                  <a:srgbClr val="111111"/>
                </a:solidFill>
                <a:latin typeface="Arial" pitchFamily="34" charset="0"/>
                <a:ea typeface="Arial" pitchFamily="34" charset="-122"/>
                <a:cs typeface="Arial" pitchFamily="34" charset="-120"/>
              </a:rPr>
              <a:t>Broader channel rollout</a:t>
            </a:r>
            <a:endParaRPr lang="en-US" sz="1250" dirty="0"/>
          </a:p>
        </p:txBody>
      </p:sp>
      <p:sp>
        <p:nvSpPr>
          <p:cNvPr id="28" name="Shape 26"/>
          <p:cNvSpPr/>
          <p:nvPr/>
        </p:nvSpPr>
        <p:spPr>
          <a:xfrm>
            <a:off x="6656832" y="4114800"/>
            <a:ext cx="402336" cy="365760"/>
          </a:xfrm>
          <a:prstGeom prst="roundRect">
            <a:avLst>
              <a:gd name="adj" fmla="val 20000"/>
            </a:avLst>
          </a:prstGeom>
          <a:solidFill>
            <a:srgbClr val="F8EDEE"/>
          </a:solidFill>
          <a:ln w="12700">
            <a:solidFill>
              <a:srgbClr val="F8EDEE"/>
            </a:solidFill>
            <a:prstDash val="solid"/>
          </a:ln>
        </p:spPr>
      </p:sp>
      <p:sp>
        <p:nvSpPr>
          <p:cNvPr id="29" name="Text 27"/>
          <p:cNvSpPr/>
          <p:nvPr/>
        </p:nvSpPr>
        <p:spPr>
          <a:xfrm>
            <a:off x="6656832" y="4105656"/>
            <a:ext cx="402336" cy="384048"/>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2</a:t>
            </a:r>
            <a:endParaRPr lang="en-US" sz="1200" dirty="0"/>
          </a:p>
        </p:txBody>
      </p:sp>
      <p:sp>
        <p:nvSpPr>
          <p:cNvPr id="30" name="Text 28"/>
          <p:cNvSpPr/>
          <p:nvPr/>
        </p:nvSpPr>
        <p:spPr>
          <a:xfrm>
            <a:off x="7223760" y="4096512"/>
            <a:ext cx="3273552" cy="402336"/>
          </a:xfrm>
          <a:prstGeom prst="rect">
            <a:avLst/>
          </a:prstGeom>
          <a:noFill/>
          <a:ln/>
        </p:spPr>
        <p:txBody>
          <a:bodyPr wrap="square" lIns="0" tIns="0" rIns="0" bIns="0" rtlCol="0" anchor="ctr">
            <a:normAutofit/>
          </a:bodyPr>
          <a:lstStyle/>
          <a:p>
            <a:pPr indent="0" marL="0">
              <a:buNone/>
            </a:pPr>
            <a:r>
              <a:rPr lang="en-US" sz="1250" dirty="0">
                <a:solidFill>
                  <a:srgbClr val="111111"/>
                </a:solidFill>
                <a:latin typeface="Arial" pitchFamily="34" charset="0"/>
                <a:ea typeface="Arial" pitchFamily="34" charset="-122"/>
                <a:cs typeface="Arial" pitchFamily="34" charset="-120"/>
              </a:rPr>
              <a:t>Fresh brand materials and templates</a:t>
            </a:r>
            <a:endParaRPr lang="en-US" sz="1250" dirty="0"/>
          </a:p>
        </p:txBody>
      </p:sp>
      <p:sp>
        <p:nvSpPr>
          <p:cNvPr id="31" name="Shape 29"/>
          <p:cNvSpPr/>
          <p:nvPr/>
        </p:nvSpPr>
        <p:spPr>
          <a:xfrm>
            <a:off x="6656832" y="4553712"/>
            <a:ext cx="402336" cy="365760"/>
          </a:xfrm>
          <a:prstGeom prst="roundRect">
            <a:avLst>
              <a:gd name="adj" fmla="val 20000"/>
            </a:avLst>
          </a:prstGeom>
          <a:solidFill>
            <a:srgbClr val="F8EDEE"/>
          </a:solidFill>
          <a:ln w="12700">
            <a:solidFill>
              <a:srgbClr val="F8EDEE"/>
            </a:solidFill>
            <a:prstDash val="solid"/>
          </a:ln>
        </p:spPr>
      </p:sp>
      <p:sp>
        <p:nvSpPr>
          <p:cNvPr id="32" name="Text 30"/>
          <p:cNvSpPr/>
          <p:nvPr/>
        </p:nvSpPr>
        <p:spPr>
          <a:xfrm>
            <a:off x="6656832" y="4544568"/>
            <a:ext cx="402336" cy="384048"/>
          </a:xfrm>
          <a:prstGeom prst="rect">
            <a:avLst/>
          </a:prstGeom>
          <a:noFill/>
          <a:ln/>
        </p:spPr>
        <p:txBody>
          <a:bodyPr wrap="square" lIns="0" tIns="0" rIns="0" bIns="0" rtlCol="0" anchor="ctr"/>
          <a:lstStyle/>
          <a:p>
            <a:pPr algn="ctr" indent="0" marL="0">
              <a:buNone/>
            </a:pPr>
            <a:r>
              <a:rPr lang="en-US" sz="1200" b="1" dirty="0">
                <a:solidFill>
                  <a:srgbClr val="D3031F"/>
                </a:solidFill>
                <a:latin typeface="Arial" pitchFamily="34" charset="0"/>
                <a:ea typeface="Arial" pitchFamily="34" charset="-122"/>
                <a:cs typeface="Arial" pitchFamily="34" charset="-120"/>
              </a:rPr>
              <a:t>3</a:t>
            </a:r>
            <a:endParaRPr lang="en-US" sz="1200" dirty="0"/>
          </a:p>
        </p:txBody>
      </p:sp>
      <p:sp>
        <p:nvSpPr>
          <p:cNvPr id="33" name="Text 31"/>
          <p:cNvSpPr/>
          <p:nvPr/>
        </p:nvSpPr>
        <p:spPr>
          <a:xfrm>
            <a:off x="7223760" y="4535424"/>
            <a:ext cx="3273552" cy="402336"/>
          </a:xfrm>
          <a:prstGeom prst="rect">
            <a:avLst/>
          </a:prstGeom>
          <a:noFill/>
          <a:ln/>
        </p:spPr>
        <p:txBody>
          <a:bodyPr wrap="square" lIns="0" tIns="0" rIns="0" bIns="0" rtlCol="0" anchor="ctr">
            <a:normAutofit/>
          </a:bodyPr>
          <a:lstStyle/>
          <a:p>
            <a:pPr indent="0" marL="0">
              <a:buNone/>
            </a:pPr>
            <a:r>
              <a:rPr lang="en-US" sz="1250" dirty="0">
                <a:solidFill>
                  <a:srgbClr val="111111"/>
                </a:solidFill>
                <a:latin typeface="Arial" pitchFamily="34" charset="0"/>
                <a:ea typeface="Arial" pitchFamily="34" charset="-122"/>
                <a:cs typeface="Arial" pitchFamily="34" charset="-120"/>
              </a:rPr>
              <a:t>Image, motion, and governance guidance</a:t>
            </a:r>
            <a:endParaRPr lang="en-US" sz="1250" dirty="0"/>
          </a:p>
        </p:txBody>
      </p:sp>
      <p:sp>
        <p:nvSpPr>
          <p:cNvPr id="34" name="Shape 32"/>
          <p:cNvSpPr/>
          <p:nvPr/>
        </p:nvSpPr>
        <p:spPr>
          <a:xfrm>
            <a:off x="658368" y="6053328"/>
            <a:ext cx="10863072" cy="438912"/>
          </a:xfrm>
          <a:prstGeom prst="roundRect">
            <a:avLst>
              <a:gd name="adj" fmla="val 16667"/>
            </a:avLst>
          </a:prstGeom>
          <a:solidFill>
            <a:srgbClr val="F8EDEE"/>
          </a:solidFill>
          <a:ln w="12700">
            <a:solidFill>
              <a:srgbClr val="F8EDEE"/>
            </a:solidFill>
            <a:prstDash val="solid"/>
          </a:ln>
        </p:spPr>
      </p:sp>
      <p:sp>
        <p:nvSpPr>
          <p:cNvPr id="35" name="Text 33"/>
          <p:cNvSpPr/>
          <p:nvPr/>
        </p:nvSpPr>
        <p:spPr>
          <a:xfrm>
            <a:off x="859536" y="6181344"/>
            <a:ext cx="10460736" cy="164592"/>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Arial" pitchFamily="34" charset="0"/>
                <a:ea typeface="Arial" pitchFamily="34" charset="-122"/>
                <a:cs typeface="Arial" pitchFamily="34" charset="-120"/>
              </a:rPr>
              <a:t>Now that branding is a stronger agency pillar, a follow-on phase can be more valuable once the web foundation is established.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2377440" cy="164592"/>
          </a:xfrm>
          <a:prstGeom prst="rect">
            <a:avLst/>
          </a:prstGeom>
          <a:noFill/>
          <a:ln/>
        </p:spPr>
        <p:txBody>
          <a:bodyPr wrap="square" lIns="0" tIns="0" rIns="0" bIns="0" rtlCol="0" anchor="ctr"/>
          <a:lstStyle/>
          <a:p>
            <a:pPr indent="0" marL="0">
              <a:buNone/>
            </a:pPr>
            <a:r>
              <a:rPr lang="en-US" sz="950" b="1" dirty="0">
                <a:solidFill>
                  <a:srgbClr val="D3031F"/>
                </a:solidFill>
                <a:latin typeface="Arial" pitchFamily="34" charset="0"/>
                <a:ea typeface="Arial" pitchFamily="34" charset="-122"/>
                <a:cs typeface="Arial" pitchFamily="34" charset="-120"/>
              </a:rPr>
              <a:t>DECISION FOR TODAY</a:t>
            </a:r>
            <a:endParaRPr lang="en-US" sz="950" dirty="0"/>
          </a:p>
        </p:txBody>
      </p:sp>
      <p:sp>
        <p:nvSpPr>
          <p:cNvPr id="3" name="Shape 1"/>
          <p:cNvSpPr/>
          <p:nvPr/>
        </p:nvSpPr>
        <p:spPr>
          <a:xfrm>
            <a:off x="658368" y="621792"/>
            <a:ext cx="10863072" cy="0"/>
          </a:xfrm>
          <a:prstGeom prst="line">
            <a:avLst/>
          </a:prstGeom>
          <a:noFill/>
          <a:ln w="15875">
            <a:solidFill>
              <a:srgbClr val="DADADA"/>
            </a:solidFill>
            <a:prstDash val="solid"/>
          </a:ln>
        </p:spPr>
      </p:sp>
      <p:sp>
        <p:nvSpPr>
          <p:cNvPr id="4" name="Text 2"/>
          <p:cNvSpPr/>
          <p:nvPr/>
        </p:nvSpPr>
        <p:spPr>
          <a:xfrm>
            <a:off x="658368" y="896112"/>
            <a:ext cx="8595360" cy="914400"/>
          </a:xfrm>
          <a:prstGeom prst="rect">
            <a:avLst/>
          </a:prstGeom>
          <a:noFill/>
          <a:ln/>
        </p:spPr>
        <p:txBody>
          <a:bodyPr wrap="square" lIns="0" tIns="0" rIns="0" bIns="0" rtlCol="0" anchor="t">
            <a:normAutofit/>
          </a:bodyPr>
          <a:lstStyle/>
          <a:p>
            <a:pPr indent="0" marL="0">
              <a:buNone/>
            </a:pPr>
            <a:r>
              <a:rPr lang="en-US" sz="2400" b="1" dirty="0">
                <a:solidFill>
                  <a:srgbClr val="111111"/>
                </a:solidFill>
                <a:latin typeface="Georgia" pitchFamily="34" charset="0"/>
                <a:ea typeface="Georgia" pitchFamily="34" charset="-122"/>
                <a:cs typeface="Georgia" pitchFamily="34" charset="-120"/>
              </a:rPr>
              <a:t>Treat the website program as the foundation of the next AHA brand chapter.</a:t>
            </a:r>
            <a:endParaRPr lang="en-US" sz="2400" dirty="0"/>
          </a:p>
        </p:txBody>
      </p:sp>
      <p:sp>
        <p:nvSpPr>
          <p:cNvPr id="5" name="Shape 3"/>
          <p:cNvSpPr/>
          <p:nvPr/>
        </p:nvSpPr>
        <p:spPr>
          <a:xfrm>
            <a:off x="676656" y="1847088"/>
            <a:ext cx="5230368" cy="3566160"/>
          </a:xfrm>
          <a:prstGeom prst="roundRect">
            <a:avLst>
              <a:gd name="adj" fmla="val 2051"/>
            </a:avLst>
          </a:prstGeom>
          <a:solidFill>
            <a:srgbClr val="F5F5F5"/>
          </a:solidFill>
          <a:ln w="12700">
            <a:solidFill>
              <a:srgbClr val="DADADA"/>
            </a:solidFill>
            <a:prstDash val="solid"/>
          </a:ln>
        </p:spPr>
      </p:sp>
      <p:sp>
        <p:nvSpPr>
          <p:cNvPr id="6" name="Shape 4"/>
          <p:cNvSpPr/>
          <p:nvPr/>
        </p:nvSpPr>
        <p:spPr>
          <a:xfrm>
            <a:off x="676656" y="1847088"/>
            <a:ext cx="5230368" cy="0"/>
          </a:xfrm>
          <a:prstGeom prst="line">
            <a:avLst/>
          </a:prstGeom>
          <a:noFill/>
          <a:ln w="31750">
            <a:solidFill>
              <a:srgbClr val="D3031F"/>
            </a:solidFill>
            <a:prstDash val="solid"/>
          </a:ln>
        </p:spPr>
      </p:sp>
      <p:sp>
        <p:nvSpPr>
          <p:cNvPr id="7" name="Text 5"/>
          <p:cNvSpPr/>
          <p:nvPr/>
        </p:nvSpPr>
        <p:spPr>
          <a:xfrm>
            <a:off x="932688" y="2139696"/>
            <a:ext cx="2560320" cy="201168"/>
          </a:xfrm>
          <a:prstGeom prst="rect">
            <a:avLst/>
          </a:prstGeom>
          <a:noFill/>
          <a:ln/>
        </p:spPr>
        <p:txBody>
          <a:bodyPr wrap="square" lIns="0" tIns="0" rIns="0" bIns="0" rtlCol="0" anchor="ctr"/>
          <a:lstStyle/>
          <a:p>
            <a:pPr indent="0" marL="0">
              <a:buNone/>
            </a:pPr>
            <a:r>
              <a:rPr lang="en-US" sz="1100" b="1" dirty="0">
                <a:solidFill>
                  <a:srgbClr val="D3031F"/>
                </a:solidFill>
                <a:latin typeface="Arial" pitchFamily="34" charset="0"/>
                <a:ea typeface="Arial" pitchFamily="34" charset="-122"/>
                <a:cs typeface="Arial" pitchFamily="34" charset="-120"/>
              </a:rPr>
              <a:t>Recommendation for alignment</a:t>
            </a:r>
            <a:endParaRPr lang="en-US" sz="1100" dirty="0"/>
          </a:p>
        </p:txBody>
      </p:sp>
      <p:sp>
        <p:nvSpPr>
          <p:cNvPr id="8" name="Text 6"/>
          <p:cNvSpPr/>
          <p:nvPr/>
        </p:nvSpPr>
        <p:spPr>
          <a:xfrm>
            <a:off x="914400" y="2487168"/>
            <a:ext cx="3749040" cy="411480"/>
          </a:xfrm>
          <a:prstGeom prst="rect">
            <a:avLst/>
          </a:prstGeom>
          <a:noFill/>
          <a:ln/>
        </p:spPr>
        <p:txBody>
          <a:bodyPr wrap="square" lIns="0" tIns="0" rIns="0" bIns="0" rtlCol="0" anchor="t">
            <a:normAutofit/>
          </a:bodyPr>
          <a:lstStyle/>
          <a:p>
            <a:pPr indent="0" marL="0">
              <a:buNone/>
            </a:pPr>
            <a:r>
              <a:rPr lang="en-US" sz="2200" b="1" dirty="0">
                <a:solidFill>
                  <a:srgbClr val="111111"/>
                </a:solidFill>
                <a:latin typeface="Georgia" pitchFamily="34" charset="0"/>
                <a:ea typeface="Georgia" pitchFamily="34" charset="-122"/>
                <a:cs typeface="Georgia" pitchFamily="34" charset="-120"/>
              </a:rPr>
              <a:t>Website-first sequencing</a:t>
            </a:r>
            <a:endParaRPr lang="en-US" sz="2200" dirty="0"/>
          </a:p>
        </p:txBody>
      </p:sp>
      <p:sp>
        <p:nvSpPr>
          <p:cNvPr id="9" name="Text 7"/>
          <p:cNvSpPr/>
          <p:nvPr/>
        </p:nvSpPr>
        <p:spPr>
          <a:xfrm>
            <a:off x="932688" y="2944368"/>
            <a:ext cx="4315968" cy="1325880"/>
          </a:xfrm>
          <a:prstGeom prst="rect">
            <a:avLst/>
          </a:prstGeom>
          <a:noFill/>
          <a:ln/>
        </p:spPr>
        <p:txBody>
          <a:bodyPr wrap="square" lIns="0" tIns="0" rIns="0" bIns="0" rtlCol="0" anchor="t">
            <a:normAutofit/>
          </a:bodyPr>
          <a:lstStyle/>
          <a:p>
            <a:pPr indent="0" marL="0">
              <a:buNone/>
            </a:pPr>
            <a:r>
              <a:rPr lang="en-US" sz="1400" dirty="0">
                <a:solidFill>
                  <a:srgbClr val="111111"/>
                </a:solidFill>
                <a:latin typeface="Arial" pitchFamily="34" charset="0"/>
                <a:ea typeface="Arial" pitchFamily="34" charset="-122"/>
                <a:cs typeface="Arial" pitchFamily="34" charset="-120"/>
              </a:rPr>
              <a:t>Continue shaping the next digital expression through the website refresh, keep brand stakeholders actively involved, and define the broader rollout as a follow-on phase once the foundation is live.</a:t>
            </a:r>
            <a:endParaRPr lang="en-US" sz="1400" dirty="0"/>
          </a:p>
        </p:txBody>
      </p:sp>
      <p:sp>
        <p:nvSpPr>
          <p:cNvPr id="10" name="Shape 8"/>
          <p:cNvSpPr/>
          <p:nvPr/>
        </p:nvSpPr>
        <p:spPr>
          <a:xfrm>
            <a:off x="6327648" y="1847088"/>
            <a:ext cx="5175504" cy="3566160"/>
          </a:xfrm>
          <a:prstGeom prst="roundRect">
            <a:avLst>
              <a:gd name="adj" fmla="val 2051"/>
            </a:avLst>
          </a:prstGeom>
          <a:solidFill>
            <a:srgbClr val="F8EDEE"/>
          </a:solidFill>
          <a:ln w="12700">
            <a:solidFill>
              <a:srgbClr val="F8EDEE"/>
            </a:solidFill>
            <a:prstDash val="solid"/>
          </a:ln>
        </p:spPr>
      </p:sp>
      <p:sp>
        <p:nvSpPr>
          <p:cNvPr id="11" name="Shape 9"/>
          <p:cNvSpPr/>
          <p:nvPr/>
        </p:nvSpPr>
        <p:spPr>
          <a:xfrm>
            <a:off x="6327648" y="1847088"/>
            <a:ext cx="5175504" cy="0"/>
          </a:xfrm>
          <a:prstGeom prst="line">
            <a:avLst/>
          </a:prstGeom>
          <a:noFill/>
          <a:ln w="31750">
            <a:solidFill>
              <a:srgbClr val="D3031F"/>
            </a:solidFill>
            <a:prstDash val="solid"/>
          </a:ln>
        </p:spPr>
      </p:sp>
      <p:sp>
        <p:nvSpPr>
          <p:cNvPr id="12" name="Text 10"/>
          <p:cNvSpPr/>
          <p:nvPr/>
        </p:nvSpPr>
        <p:spPr>
          <a:xfrm>
            <a:off x="6583680" y="2139696"/>
            <a:ext cx="2011680" cy="201168"/>
          </a:xfrm>
          <a:prstGeom prst="rect">
            <a:avLst/>
          </a:prstGeom>
          <a:noFill/>
          <a:ln/>
        </p:spPr>
        <p:txBody>
          <a:bodyPr wrap="square" lIns="0" tIns="0" rIns="0" bIns="0" rtlCol="0" anchor="ctr"/>
          <a:lstStyle/>
          <a:p>
            <a:pPr indent="0" marL="0">
              <a:buNone/>
            </a:pPr>
            <a:r>
              <a:rPr lang="en-US" sz="1100" b="1" dirty="0">
                <a:solidFill>
                  <a:srgbClr val="D3031F"/>
                </a:solidFill>
                <a:latin typeface="Arial" pitchFamily="34" charset="0"/>
                <a:ea typeface="Arial" pitchFamily="34" charset="-122"/>
                <a:cs typeface="Arial" pitchFamily="34" charset="-120"/>
              </a:rPr>
              <a:t>Discussion prompts</a:t>
            </a:r>
            <a:endParaRPr lang="en-US" sz="1100" dirty="0"/>
          </a:p>
        </p:txBody>
      </p:sp>
      <p:sp>
        <p:nvSpPr>
          <p:cNvPr id="13" name="Shape 11"/>
          <p:cNvSpPr/>
          <p:nvPr/>
        </p:nvSpPr>
        <p:spPr>
          <a:xfrm>
            <a:off x="6583680" y="2761488"/>
            <a:ext cx="164592" cy="0"/>
          </a:xfrm>
          <a:prstGeom prst="line">
            <a:avLst/>
          </a:prstGeom>
          <a:noFill/>
          <a:ln w="31750">
            <a:solidFill>
              <a:srgbClr val="D3031F"/>
            </a:solidFill>
            <a:prstDash val="solid"/>
          </a:ln>
        </p:spPr>
      </p:sp>
      <p:sp>
        <p:nvSpPr>
          <p:cNvPr id="14" name="Text 12"/>
          <p:cNvSpPr/>
          <p:nvPr/>
        </p:nvSpPr>
        <p:spPr>
          <a:xfrm>
            <a:off x="6858000" y="2596896"/>
            <a:ext cx="4114800" cy="640080"/>
          </a:xfrm>
          <a:prstGeom prst="rect">
            <a:avLst/>
          </a:prstGeom>
          <a:noFill/>
          <a:ln/>
        </p:spPr>
        <p:txBody>
          <a:bodyPr wrap="square" lIns="0" tIns="0" rIns="0" bIns="0" rtlCol="0" anchor="ctr">
            <a:normAutofit/>
          </a:bodyPr>
          <a:lstStyle/>
          <a:p>
            <a:pPr indent="0" marL="0">
              <a:buNone/>
            </a:pPr>
            <a:r>
              <a:rPr lang="en-US" sz="1400" dirty="0">
                <a:solidFill>
                  <a:srgbClr val="111111"/>
                </a:solidFill>
                <a:latin typeface="Arial" pitchFamily="34" charset="0"/>
                <a:ea typeface="Arial" pitchFamily="34" charset="-122"/>
                <a:cs typeface="Arial" pitchFamily="34" charset="-120"/>
              </a:rPr>
              <a:t>1. Which non-web touchpoints matter most for a follow-on phase?</a:t>
            </a:r>
            <a:endParaRPr lang="en-US" sz="1400" dirty="0"/>
          </a:p>
        </p:txBody>
      </p:sp>
      <p:sp>
        <p:nvSpPr>
          <p:cNvPr id="15" name="Shape 13"/>
          <p:cNvSpPr/>
          <p:nvPr/>
        </p:nvSpPr>
        <p:spPr>
          <a:xfrm>
            <a:off x="6583680" y="3749040"/>
            <a:ext cx="164592" cy="0"/>
          </a:xfrm>
          <a:prstGeom prst="line">
            <a:avLst/>
          </a:prstGeom>
          <a:noFill/>
          <a:ln w="31750">
            <a:solidFill>
              <a:srgbClr val="D3031F"/>
            </a:solidFill>
            <a:prstDash val="solid"/>
          </a:ln>
        </p:spPr>
      </p:sp>
      <p:sp>
        <p:nvSpPr>
          <p:cNvPr id="16" name="Text 14"/>
          <p:cNvSpPr/>
          <p:nvPr/>
        </p:nvSpPr>
        <p:spPr>
          <a:xfrm>
            <a:off x="6858000" y="3584448"/>
            <a:ext cx="4114800" cy="786384"/>
          </a:xfrm>
          <a:prstGeom prst="rect">
            <a:avLst/>
          </a:prstGeom>
          <a:noFill/>
          <a:ln/>
        </p:spPr>
        <p:txBody>
          <a:bodyPr wrap="square" lIns="0" tIns="0" rIns="0" bIns="0" rtlCol="0" anchor="ctr">
            <a:normAutofit/>
          </a:bodyPr>
          <a:lstStyle/>
          <a:p>
            <a:pPr indent="0" marL="0">
              <a:buNone/>
            </a:pPr>
            <a:r>
              <a:rPr lang="en-US" sz="1400" dirty="0">
                <a:solidFill>
                  <a:srgbClr val="111111"/>
                </a:solidFill>
                <a:latin typeface="Arial" pitchFamily="34" charset="0"/>
                <a:ea typeface="Arial" pitchFamily="34" charset="-122"/>
                <a:cs typeface="Arial" pitchFamily="34" charset="-120"/>
              </a:rPr>
              <a:t>2. How should internal brand stakeholders stay involved during the current website work?</a:t>
            </a:r>
            <a:endParaRPr lang="en-US" sz="1400" dirty="0"/>
          </a:p>
        </p:txBody>
      </p:sp>
      <p:sp>
        <p:nvSpPr>
          <p:cNvPr id="17" name="Shape 15"/>
          <p:cNvSpPr/>
          <p:nvPr/>
        </p:nvSpPr>
        <p:spPr>
          <a:xfrm>
            <a:off x="658368" y="6053328"/>
            <a:ext cx="10863072" cy="438912"/>
          </a:xfrm>
          <a:prstGeom prst="roundRect">
            <a:avLst>
              <a:gd name="adj" fmla="val 16667"/>
            </a:avLst>
          </a:prstGeom>
          <a:solidFill>
            <a:srgbClr val="F8EDEE"/>
          </a:solidFill>
          <a:ln w="12700">
            <a:solidFill>
              <a:srgbClr val="F8EDEE"/>
            </a:solidFill>
            <a:prstDash val="solid"/>
          </a:ln>
        </p:spPr>
      </p:sp>
      <p:sp>
        <p:nvSpPr>
          <p:cNvPr id="18" name="Text 16"/>
          <p:cNvSpPr/>
          <p:nvPr/>
        </p:nvSpPr>
        <p:spPr>
          <a:xfrm>
            <a:off x="859536" y="6181344"/>
            <a:ext cx="10460736" cy="164592"/>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Arial" pitchFamily="34" charset="0"/>
                <a:ea typeface="Arial" pitchFamily="34" charset="-122"/>
                <a:cs typeface="Arial" pitchFamily="34" charset="-120"/>
              </a:rPr>
              <a:t>We are not postponing brand thinking. We are building from a real foundation rather than splitting the same decisions across two tracks.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AHA rebrand workstream proposal</dc:title>
  <dc:subject>AHA rebrand workstream proposal</dc:subject>
  <dc:creator>Codex</dc:creator>
  <cp:lastModifiedBy>Codex</cp:lastModifiedBy>
  <cp:revision>1</cp:revision>
  <dcterms:created xsi:type="dcterms:W3CDTF">2026-04-21T13:03:39Z</dcterms:created>
  <dcterms:modified xsi:type="dcterms:W3CDTF">2026-04-21T13:03:39Z</dcterms:modified>
</cp:coreProperties>
</file>